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6804e01abc45a5" /><Relationship Type="http://schemas.openxmlformats.org/officeDocument/2006/relationships/extended-properties" Target="/docProps/app.xml" Id="R39b5182de2f84cac" /><Relationship Type="http://schemas.openxmlformats.org/officeDocument/2006/relationships/officeDocument" Target="/ppt/presentation.xml" Id="R6a207ad65882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31cd62e7994248"/>
  </p:sldMasterIdLst>
  <p:notesMasterIdLst>
    <p:notesMasterId xmlns:r="http://schemas.openxmlformats.org/officeDocument/2006/relationships" r:id="R1df5aa91240143d9"/>
  </p:notesMasterIdLst>
  <p:sldIdLst>
    <p:sldId xmlns:r="http://schemas.openxmlformats.org/officeDocument/2006/relationships" id="256" r:id="R535ab0fe5e5e4f6c"/>
    <p:sldId xmlns:r="http://schemas.openxmlformats.org/officeDocument/2006/relationships" id="257" r:id="Rfd14cc88644845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fbd5277b244f2" /><Relationship Type="http://schemas.openxmlformats.org/officeDocument/2006/relationships/slideMaster" Target="/ppt/slideMasters/slideMaster1.xml" Id="Rf931cd62e7994248" /><Relationship Type="http://schemas.openxmlformats.org/officeDocument/2006/relationships/notesMaster" Target="/ppt/notesMasters/notesMaster1.xml" Id="R1df5aa91240143d9" /><Relationship Type="http://schemas.openxmlformats.org/officeDocument/2006/relationships/presProps" Target="/ppt/presProps.xml" Id="R8ec0c68faf654a00" /><Relationship Type="http://schemas.openxmlformats.org/officeDocument/2006/relationships/tableStyles" Target="/ppt/tableStyles.xml" Id="R7b790a3ea25f4d29" /><Relationship Type="http://schemas.openxmlformats.org/officeDocument/2006/relationships/slide" Target="/ppt/slides/slide1.xml" Id="R535ab0fe5e5e4f6c" /><Relationship Type="http://schemas.openxmlformats.org/officeDocument/2006/relationships/slide" Target="/ppt/slides/slide2.xml" Id="Rfd14cc88644845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376b1e364549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2f706c67c425b" /><Relationship Type="http://schemas.openxmlformats.org/officeDocument/2006/relationships/notesMaster" Target="/ppt/notesMasters/notesMaster1.xml" Id="Rcec223b967d2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cba3c23e2841dd" /><Relationship Type="http://schemas.openxmlformats.org/officeDocument/2006/relationships/notesMaster" Target="/ppt/notesMasters/notesMaster1.xml" Id="R817f4fd14e9c4d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09530790e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b3f3ef99b446b1" /><Relationship Type="http://schemas.openxmlformats.org/officeDocument/2006/relationships/slideLayout" Target="/ppt/slideLayouts/slideLayout1.xml" Id="Rda356222786f46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56222786f46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8d4075991447d" /><Relationship Type="http://schemas.openxmlformats.org/officeDocument/2006/relationships/notesSlide" Target="/ppt/notesSlides/notesSlide1.xml" Id="Rddc79e53e2f0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4183779734234" /><Relationship Type="http://schemas.openxmlformats.org/officeDocument/2006/relationships/notesSlide" Target="/ppt/notesSlides/notesSlide2.xml" Id="Re384cc3895d642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4C209D-36FA-4372-A93E-3FEABA61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A01AB-6F5F-4438-A230-6DEE4151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409FD-7BDC-445A-8D49-C37D5EC6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Offline manufacturing-system decision-twin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7BB3C-DA10-446F-8F20-FE5380E2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3467100" cy="3676650"/>
          </a:xfrm>
          <a:prstGeom xmlns:a="http://schemas.openxmlformats.org/drawingml/2006/main" prst="roundRect">
            <a:avLst>
              <a:gd name="adj" fmla="val 109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B6515-9362-4470-B9B2-4A60697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23900"/>
            <a:ext cx="3467100" cy="3676650"/>
          </a:xfrm>
          <a:prstGeom xmlns:a="http://schemas.openxmlformats.org/drawingml/2006/main" prst="roundRect">
            <a:avLst>
              <a:gd name="adj" fmla="val 1099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5D6EB-9C53-44B1-9614-DED1D9C1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723900"/>
            <a:ext cx="3467100" cy="3676650"/>
          </a:xfrm>
          <a:prstGeom xmlns:a="http://schemas.openxmlformats.org/drawingml/2006/main" prst="roundRect">
            <a:avLst>
              <a:gd name="adj" fmla="val 1099"/>
            </a:avLst>
          </a:prstGeom>
          <a:solidFill xmlns:a="http://schemas.openxmlformats.org/drawingml/2006/main">
            <a:srgbClr val="FAF0E5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924300" y="2562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829550" y="2562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18324A"/>
            </a:solidFill>
            <a:prstDash val="solid"/>
            <a:head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E3032-8FEA-442D-9C9D-D00C45A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6EA8"/>
                </a:solidFill>
              </a:defRPr>
            </a:pPr>
            <a:r>
              <a:rPr sz="1500" b="1">
                <a:solidFill>
                  <a:srgbClr val="3B6E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983CB-3F14-4906-B042-012BB43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77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Manufacturing-system twin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B6E13-DE39-4AC0-95BA-5028CB9C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193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A509A-B902-449E-A6CE-B314478D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FA45E-3E79-41C0-97E4-9D4FDE8F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46EF2-E539-4119-AE6E-84FD4858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954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BE3AC-EC4F-4DC8-B88B-B9AA73A9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43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E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D25E7-8AF2-4F96-B598-E825C295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942CD-3090-48F8-86F4-73CD3A0D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52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63B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EF424-E571-476B-9FFB-ABBED513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52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2395C-E06D-4682-A0DB-9536B04D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2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33BCF-0877-4C6A-B458-72B42A9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62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63B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D6BC22-B691-4453-BA12-E982894D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952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F441C-1210-44B3-8EF5-DA76977C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76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82EA5-0AD7-4B21-A307-A760D590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76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63B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C786E5-406C-4D4B-A622-B49194C8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6E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E9ED0-A7EB-465E-A7F6-31B7B252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20-node route graph | 3 AGVs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83586-E21A-4F41-8416-CB740696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8194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B8F43-5DFF-4812-B2F7-C696D53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746"/>
                </a:solidFill>
              </a:defRPr>
            </a:pPr>
            <a:r>
              <a:rPr sz="1050" b="0">
                <a:solidFill>
                  <a:srgbClr val="243746"/>
                </a:solidFill>
              </a:rPr>
              <a:t>Kinematics + handling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82C6E-5D6C-4A58-80CC-3A3F67E0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28194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00D7EC-84AE-4A2F-8706-C47FDE9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746"/>
                </a:solidFill>
              </a:defRPr>
            </a:pPr>
            <a:r>
              <a:rPr sz="1050" b="0">
                <a:solidFill>
                  <a:srgbClr val="243746"/>
                </a:solidFill>
              </a:rPr>
              <a:t>Battery + charging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EB7BF-3120-4B69-A948-3CC7DC18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8194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25F07-D199-4863-B9DF-60B4175A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746"/>
                </a:solidFill>
              </a:defRPr>
            </a:pPr>
            <a:r>
              <a:rPr sz="1050" b="0">
                <a:solidFill>
                  <a:srgbClr val="243746"/>
                </a:solidFill>
              </a:rPr>
              <a:t>Path-resource contention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26331-5917-48B2-83FB-FEE4EED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8667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8C82"/>
                </a:solidFill>
              </a:defRPr>
            </a:pPr>
            <a:r>
              <a:rPr sz="1500" b="1">
                <a:solidFill>
                  <a:srgbClr val="2A8C8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AD84D4-86DD-4229-8DBB-E8F5484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8572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Paired multistep world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CBAAD6-6E88-4400-89F8-C9EBDE56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14475"/>
            <a:ext cx="11620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4E6F7A-80B7-4465-A188-71C37E40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621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Baseline A0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DF8F0-8AA7-4D8D-8B15-4643EA4E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11620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982AF9-7C1E-47C4-ADCA-18D5692D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907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Candidate Ac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5B19DF-0480-4AC0-8126-CD4B9761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85900"/>
            <a:ext cx="13716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74229-7D36-45CE-A583-7341BF0A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33525"/>
            <a:ext cx="1219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Physics-graph</a:t>
            </a:r>
          </a:p>
          <a:p xmlns:a="http://schemas.openxmlformats.org/drawingml/2006/main"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backbone</a:t>
            </a:r>
          </a:p>
        </p:txBody>
      </p:sp>
      <p:cxnSp>
        <p:nvCxnSpPr>
          <p:cNvPr id="134" name=""/>
          <p:cNvCxnSpPr>
            <a:stCxn xmlns:a="http://schemas.openxmlformats.org/drawingml/2006/main" id="38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 flipV="1">
            <a:off x="5791200" y="1657350"/>
            <a:ext cx="3238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38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5791200" y="1905000"/>
            <a:ext cx="32385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A8C82"/>
            </a:solidFill>
            <a:prstDash val="solid"/>
            <a:head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8EDDB5-59D3-4366-A1F7-74D64755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286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7F495F-A052-4D44-BC95-AA05DD7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955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Paired future effects</a:t>
            </a:r>
          </a:p>
        </p:txBody>
      </p:sp>
      <p:cxnSp>
        <p:nvCxnSpPr>
          <p:cNvPr id="138" name=""/>
          <p:cNvCxnSpPr>
            <a:stCxn xmlns:a="http://schemas.openxmlformats.org/drawingml/2006/main" id="42" idx="0"/>
            <a:endCxn xmlns:a="http://schemas.openxmlformats.org/drawingml/2006/main" id="38" idx="2"/>
          </p:cNvCxnSpPr>
          <p:nvPr/>
        </p:nvCxnSpPr>
        <p:spPr>
          <a:xfrm xmlns:a="http://schemas.openxmlformats.org/drawingml/2006/main" flipV="1">
            <a:off x="6096000" y="2324100"/>
            <a:ext cx="7048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A8C82"/>
            </a:solidFill>
            <a:prstDash val="solid"/>
            <a:headEnd type="arrow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A65DF8-9EFC-43A6-8CCE-D73AA79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energy | throughput | charge queue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254271-168E-45C2-9928-58C517A3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29025"/>
            <a:ext cx="8382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9B78FA-42DF-4901-8CF3-EFF261E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76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120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B362A4-B62C-434D-81A1-AA6D4CD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29025"/>
            <a:ext cx="8382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BFF913-9991-4E40-B9AF-2C35FF44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360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852175-432A-4F88-9D95-25305EBD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29025"/>
            <a:ext cx="8382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5DA9B8-1C78-4D21-926E-1225692E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76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8C82"/>
                </a:solidFill>
              </a:defRPr>
            </a:pPr>
            <a:r>
              <a:rPr sz="1125" b="1">
                <a:solidFill>
                  <a:srgbClr val="2A8C82"/>
                </a:solidFill>
              </a:rPr>
              <a:t>720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997F60-4CC7-4350-840D-019F7A92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48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B87"/>
                </a:solidFill>
              </a:defRPr>
            </a:pPr>
            <a:r>
              <a:rPr sz="1050" b="0">
                <a:solidFill>
                  <a:srgbClr val="6E7B87"/>
                </a:solidFill>
              </a:rPr>
              <a:t>explicit physical-time horizons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1F8CFE-2FC0-496F-B9FA-CE6595AE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667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863B"/>
                </a:solidFill>
              </a:defRPr>
            </a:pPr>
            <a:r>
              <a:rPr sz="1500" b="1">
                <a:solidFill>
                  <a:srgbClr val="D4863B"/>
                </a:solidFill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B74E82-7A93-4F12-ADD2-033F37FA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477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Selective decision support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E84534-B5E8-4901-B595-FAEC455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438275"/>
            <a:ext cx="24574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034BB1-EB34-4BEC-817B-97BC5B99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4859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Rank candidate actions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EA1978-C0BA-48AF-A7BC-F6A41228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28825"/>
            <a:ext cx="24574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381DFD-55B9-4283-8CD8-38F6542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764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Agreement + utility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D1FB49-1308-4B18-B852-9DE6B7C1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19375"/>
            <a:ext cx="24574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BB1E4A-7B63-4561-9E9C-FCC0B73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670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Hard safety + cooldown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C8A538-21D9-42C7-9444-5E2E0B9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09925"/>
            <a:ext cx="24574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4863B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A45D56-282D-4788-9B61-B1F1B169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5755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Shadow recommendation</a:t>
            </a:r>
          </a:p>
        </p:txBody>
      </p:sp>
      <p:cxnSp>
        <p:nvCxnSpPr>
          <p:cNvPr id="157" name=""/>
          <p:cNvCxnSpPr>
            <a:stCxn xmlns:a="http://schemas.openxmlformats.org/drawingml/2006/main" id="57" idx="0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V="1">
            <a:off x="10001250" y="18383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4863B"/>
            </a:solidFill>
            <a:prstDash val="solid"/>
            <a:headEnd type="arrow" w="med" len="med"/>
          </a:ln>
        </p:spPr>
      </p:cxnSp>
      <p:cxnSp>
        <p:nvCxnSpPr>
          <p:cNvPr id="158" name=""/>
          <p:cNvCxnSpPr>
            <a:stCxn xmlns:a="http://schemas.openxmlformats.org/drawingml/2006/main" id="59" idx="0"/>
            <a:endCxn xmlns:a="http://schemas.openxmlformats.org/drawingml/2006/main" id="57" idx="2"/>
          </p:cNvCxnSpPr>
          <p:nvPr/>
        </p:nvCxnSpPr>
        <p:spPr>
          <a:xfrm xmlns:a="http://schemas.openxmlformats.org/drawingml/2006/main" flipV="1">
            <a:off x="10001250" y="24288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4863B"/>
            </a:solidFill>
            <a:prstDash val="solid"/>
            <a:headEnd type="arrow" w="med" len="med"/>
          </a:ln>
        </p:spPr>
      </p:cxnSp>
      <p:cxnSp>
        <p:nvCxnSpPr>
          <p:cNvPr id="159" name=""/>
          <p:cNvCxnSpPr>
            <a:stCxn xmlns:a="http://schemas.openxmlformats.org/drawingml/2006/main" id="61" idx="0"/>
            <a:endCxn xmlns:a="http://schemas.openxmlformats.org/drawingml/2006/main" id="59" idx="2"/>
          </p:cNvCxnSpPr>
          <p:nvPr/>
        </p:nvCxnSpPr>
        <p:spPr>
          <a:xfrm xmlns:a="http://schemas.openxmlformats.org/drawingml/2006/main" flipV="1">
            <a:off x="10001250" y="301942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4863B"/>
            </a:solidFill>
            <a:prstDash val="solid"/>
            <a:headEnd type="arrow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B16ABC-CD72-473C-B6E5-1D80607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2857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9EDEC"/>
          </a:solidFill>
          <a:ln xmlns:a="http://schemas.openxmlformats.org/drawingml/2006/main" w="14288">
            <a:solidFill>
              <a:srgbClr val="C45A4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F73B38-E553-48DE-A99D-B177126E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243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5A4A"/>
                </a:solidFill>
              </a:defRPr>
            </a:pPr>
            <a:r>
              <a:rPr sz="1050" b="1">
                <a:solidFill>
                  <a:srgbClr val="C45A4A"/>
                </a:solidFill>
              </a:rPr>
              <a:t>If uncertain or unsafe: keep DT-aware action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396AE7-7775-4F03-878D-60ACFFF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962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3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B6F218-F315-42A5-9DAC-5CD5068F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A12906-4AA2-4466-B2A7-BBFFC719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29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D2D1D2-F90C-4360-B5E9-ADAAB13C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Evidence and authority ladder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6BA92D-BB81-4D26-BE93-8485A68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24574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51F694-CCF9-489D-A7AF-63DC8F34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3B6EA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109BA95-3A47-469A-8DAE-6B3E53CB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5B29DD-588C-4CFA-8DAD-9836923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53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Physics fidelity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B2F3462-E7E7-4E4D-ADE7-A53BC24A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factorial ablation</a:t>
            </a:r>
          </a:p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multistep prediction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EC0D32-1BFA-4D99-A5CE-EAB430D5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429250"/>
            <a:ext cx="24574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1220DC-0E1D-4022-8B56-A2F0229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56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C82"/>
          </a:solidFill>
          <a:ln xmlns:a="http://schemas.openxmlformats.org/drawingml/2006/main" w="0">
            <a:solidFill>
              <a:srgbClr val="2A8C8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9EF1DE-4674-4B8F-86E9-E844D5A9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581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A3A69FF-2DE3-42A9-9C3F-E97A778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553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Decision value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FB7BFB-6E2D-4F79-B5CB-87FAE78E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886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unseen ranking</a:t>
            </a:r>
          </a:p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counterfactual regret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BC6E0F-AFF2-41A8-8D1D-82182110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24574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AF0E5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3D4D90-3B61-4E7B-A7AE-B985196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6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63B"/>
          </a:solidFill>
          <a:ln xmlns:a="http://schemas.openxmlformats.org/drawingml/2006/main" w="0">
            <a:solidFill>
              <a:srgbClr val="D4863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B403DD4-F977-46F3-84F6-1C9ED5C7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81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190C65-4367-4135-B3C8-8B6D9011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53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Shadow evidence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BFFC20-8A45-47A4-890B-5C99145C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86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coverage, benefit</a:t>
            </a:r>
          </a:p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disagreement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A28116C-B545-4B8F-B261-3C02E6C4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29250"/>
            <a:ext cx="24574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9EDEC"/>
          </a:solidFill>
          <a:ln xmlns:a="http://schemas.openxmlformats.org/drawingml/2006/main" w="14288">
            <a:solidFill>
              <a:srgbClr val="C45A4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03562C-52F9-49C0-89CA-2836528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56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A4A"/>
          </a:solidFill>
          <a:ln xmlns:a="http://schemas.openxmlformats.org/drawingml/2006/main" w="0">
            <a:solidFill>
              <a:srgbClr val="C45A4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8D63EAB-744A-4180-AC70-5DD0E95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581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A910A2-69C4-4EC1-8DA0-83498E95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553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Bounded authority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74178B8-9485-4786-9E20-D24C625E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864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abstain, fallback</a:t>
            </a:r>
          </a:p>
          <a:p xmlns:a="http://schemas.openxmlformats.org/drawingml/2006/main">
            <a:pPr algn="l">
              <a:defRPr sz="1125" b="0">
                <a:solidFill>
                  <a:srgbClr val="6E7B87"/>
                </a:solidFill>
              </a:defRPr>
            </a:pPr>
            <a:r>
              <a:rPr sz="1125" b="0">
                <a:solidFill>
                  <a:srgbClr val="6E7B87"/>
                </a:solidFill>
              </a:rPr>
              <a:t>+ safety gate</a:t>
            </a:r>
          </a:p>
        </p:txBody>
      </p:sp>
      <p:cxnSp>
        <p:nvCxnSpPr>
          <p:cNvPr id="186" name=""/>
          <p:cNvCxnSpPr>
            <a:stCxn xmlns:a="http://schemas.openxmlformats.org/drawingml/2006/main" id="77" idx="1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>
            <a:off x="2914650" y="5962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187" name=""/>
          <p:cNvCxnSpPr>
            <a:stCxn xmlns:a="http://schemas.openxmlformats.org/drawingml/2006/main" id="82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5800725" y="5962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188" name=""/>
          <p:cNvCxnSpPr>
            <a:stCxn xmlns:a="http://schemas.openxmlformats.org/drawingml/2006/main" id="87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8686800" y="5962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24A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139954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8B8240-F4D1-4511-9718-2D9029F8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604FB-FD44-4833-AA22-1C6A8A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8B6D0-EB14-4362-9CB5-14EF472F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Physics-aware graph-state backbone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64470-A403-40CD-B2B3-651B0620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4375"/>
            <a:ext cx="2095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EAED8-46F7-48EE-9757-8D3F0CB2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620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Graph-state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7ECDA-633F-4427-BA5F-B06221E9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B87"/>
                </a:solidFill>
              </a:defRPr>
            </a:pPr>
            <a:r>
              <a:rPr sz="1050" b="0">
                <a:solidFill>
                  <a:srgbClr val="6E7B87"/>
                </a:solidFill>
              </a:rPr>
              <a:t>dynamic: occupancy | AGV | SOC | jobs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1BFDC-5733-4738-957B-FB40B81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B87"/>
                </a:solidFill>
              </a:defRPr>
            </a:pPr>
            <a:r>
              <a:rPr sz="1050" b="0">
                <a:solidFill>
                  <a:srgbClr val="6E7B87"/>
                </a:solidFill>
              </a:rPr>
              <a:t>static: geometry | distance | 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2E552-4421-4474-B9A1-39D8A47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2000"/>
            <a:ext cx="21336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A4564-D5C6-45C7-97A5-9E9C651E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809625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Edge-conditioned</a:t>
            </a:r>
          </a:p>
          <a:p xmlns:a="http://schemas.openxmlformats.org/drawingml/2006/main">
            <a:pPr algn="ctr"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graph 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87334-5015-433E-8DED-C4D95867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"/>
            <a:ext cx="2619375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AF0E5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63718-B982-4B60-952D-93256F85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23900"/>
            <a:ext cx="2257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Residual multistep rollout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CCDB9-654A-4575-8542-E6A6518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143000"/>
            <a:ext cx="628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7369E-DF48-464C-AF05-CBA0D0F6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190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863B"/>
                </a:solidFill>
              </a:defRPr>
            </a:pPr>
            <a:r>
              <a:rPr sz="1125" b="1">
                <a:solidFill>
                  <a:srgbClr val="D4863B"/>
                </a:solidFill>
              </a:rPr>
              <a:t>t + 1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6F558-9242-47EF-8415-8384AED0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143000"/>
            <a:ext cx="628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F82DC-A992-4883-98D7-A724CFAA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190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863B"/>
                </a:solidFill>
              </a:defRPr>
            </a:pPr>
            <a:r>
              <a:rPr sz="1125" b="1">
                <a:solidFill>
                  <a:srgbClr val="D4863B"/>
                </a:solidFill>
              </a:rPr>
              <a:t>t + 5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92ABA-F49B-47F6-AC16-1EBC853A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143000"/>
            <a:ext cx="666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27FF1-73F7-4C86-BEBE-01DC463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906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863B"/>
                </a:solidFill>
              </a:defRPr>
            </a:pPr>
            <a:r>
              <a:rPr sz="1125" b="1">
                <a:solidFill>
                  <a:srgbClr val="D4863B"/>
                </a:solidFill>
              </a:rPr>
              <a:t>t + 10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70A18-56C7-4E69-A830-D331A0F0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3875"/>
            <a:ext cx="2143125" cy="15049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4288">
            <a:solidFill>
              <a:srgbClr val="6E7B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2751C-F7CE-4AC3-BE89-D05D9134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24A"/>
                </a:solidFill>
              </a:defRPr>
            </a:pPr>
            <a:r>
              <a:rPr sz="1350" b="1">
                <a:solidFill>
                  <a:srgbClr val="18324A"/>
                </a:solidFill>
              </a:rPr>
              <a:t>Prediction heads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A0AC5-6EFA-4342-8B14-E90E364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52500"/>
            <a:ext cx="1657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746"/>
                </a:solidFill>
              </a:defRPr>
            </a:pPr>
            <a:r>
              <a:rPr sz="1125" b="0">
                <a:solidFill>
                  <a:srgbClr val="243746"/>
                </a:solidFill>
              </a:rPr>
              <a:t>state transition</a:t>
            </a:r>
          </a:p>
          <a:p xmlns:a="http://schemas.openxmlformats.org/drawingml/2006/main">
            <a:pPr algn="ctr">
              <a:defRPr sz="1125" b="0">
                <a:solidFill>
                  <a:srgbClr val="243746"/>
                </a:solidFill>
              </a:defRPr>
            </a:pPr>
            <a:r>
              <a:rPr sz="1125" b="0">
                <a:solidFill>
                  <a:srgbClr val="243746"/>
                </a:solidFill>
              </a:rPr>
              <a:t>time + energy</a:t>
            </a:r>
          </a:p>
          <a:p xmlns:a="http://schemas.openxmlformats.org/drawingml/2006/main">
            <a:pPr algn="ctr">
              <a:defRPr sz="1125" b="0">
                <a:solidFill>
                  <a:srgbClr val="243746"/>
                </a:solidFill>
              </a:defRPr>
            </a:pPr>
            <a:r>
              <a:rPr sz="1125" b="0">
                <a:solidFill>
                  <a:srgbClr val="243746"/>
                </a:solidFill>
              </a:rPr>
              <a:t>tasks + queue</a:t>
            </a:r>
          </a:p>
          <a:p xmlns:a="http://schemas.openxmlformats.org/drawingml/2006/main">
            <a:pPr algn="ctr">
              <a:defRPr sz="1125" b="0">
                <a:solidFill>
                  <a:srgbClr val="243746"/>
                </a:solidFill>
              </a:defRPr>
            </a:pPr>
            <a:r>
              <a:rPr sz="1125" b="0">
                <a:solidFill>
                  <a:srgbClr val="243746"/>
                </a:solidFill>
              </a:rPr>
              <a:t>future charge risk</a:t>
            </a:r>
          </a:p>
        </p:txBody>
      </p:sp>
      <p:cxnSp>
        <p:nvCxnSpPr>
          <p:cNvPr id="96" name=""/>
          <p:cNvCxnSpPr>
            <a:stCxn xmlns:a="http://schemas.openxmlformats.org/drawingml/2006/main" id="8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619375" y="990600"/>
            <a:ext cx="695325" cy="18097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5448300" y="1171575"/>
            <a:ext cx="7429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8810625" y="1219200"/>
            <a:ext cx="714375" cy="5715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D4863B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8FE7D-E179-4617-A044-35A846F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43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8C82"/>
                </a:solidFill>
              </a:defRPr>
            </a:pPr>
            <a:r>
              <a:rPr sz="975" b="1">
                <a:solidFill>
                  <a:srgbClr val="2A8C82"/>
                </a:solidFill>
              </a:rPr>
              <a:t>graph structure retained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253A5-706B-49CE-9984-E37F4B1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0980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F2EB7-9BD4-4B4F-B353-08DEAFFF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722A2-C9A6-4016-8FF9-EA10187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717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CD39BC-2EA6-4E51-8D06-16E28F7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Frozen paired counterfactual inference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B15BC-4DD3-4395-94EB-30D72B43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60020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756B1-B211-480E-972A-A45528FE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Source state</a:t>
            </a:r>
          </a:p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+ frozen arrivals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F6C4A9-BE18-47BD-A073-1D64BDC2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17907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ADD87E-72F3-4FF1-94BF-BE3FCA1D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2892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6EA8"/>
                </a:solidFill>
              </a:defRPr>
            </a:pPr>
            <a:r>
              <a:rPr sz="1200" b="1">
                <a:solidFill>
                  <a:srgbClr val="3B6EA8"/>
                </a:solidFill>
              </a:rPr>
              <a:t>Baseline action 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B9E60F-8322-422A-B44B-0DF1A69B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8575"/>
            <a:ext cx="17907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3EE7C-F130-4B7E-A87A-9F2D341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862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8C82"/>
                </a:solidFill>
              </a:defRPr>
            </a:pPr>
            <a:r>
              <a:rPr sz="1200" b="1">
                <a:solidFill>
                  <a:srgbClr val="2A8C82"/>
                </a:solidFill>
              </a:rPr>
              <a:t>Candidate action Ac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EEBEDF-5147-4671-A329-C56F3675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38425"/>
            <a:ext cx="2190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46124-A947-4A05-92B0-42C1124D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8605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Frozen V13</a:t>
            </a:r>
          </a:p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physics-graph backbone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5D0896-72C9-4D1D-8F98-4ACD28E6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2190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0160E5-4B2F-4705-B7B7-C4DFF18D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743325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Frozen V13</a:t>
            </a:r>
          </a:p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physics-graph backbone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9353E2-EC3E-4800-885D-9C2BFF47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8C82"/>
                </a:solidFill>
              </a:defRPr>
            </a:pPr>
            <a:r>
              <a:rPr sz="1050" b="1">
                <a:solidFill>
                  <a:srgbClr val="2A8C82"/>
                </a:solidFill>
              </a:rPr>
              <a:t>shared frozen weights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565F2D-EB14-423A-B389-0598B456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1809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AF0E5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16354F-4E3B-41D0-8698-A253B195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5277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Paired effect</a:t>
            </a:r>
          </a:p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(candidate - baseline)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D9F6B0-EC99-48C8-9D19-881158B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666875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9EDEC"/>
          </a:solidFill>
          <a:ln xmlns:a="http://schemas.openxmlformats.org/drawingml/2006/main" w="14288">
            <a:solidFill>
              <a:srgbClr val="C45A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1B854-3444-4714-A0AD-6BD91E80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57525"/>
            <a:ext cx="1514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Trainable paired head</a:t>
            </a:r>
          </a:p>
          <a:p xmlns:a="http://schemas.openxmlformats.org/drawingml/2006/main">
            <a:pPr algn="ctr">
              <a:defRPr sz="1200" b="1">
                <a:solidFill>
                  <a:srgbClr val="18324A"/>
                </a:solidFill>
              </a:defRPr>
            </a:pPr>
            <a:r>
              <a:rPr sz="1200" b="1">
                <a:solidFill>
                  <a:srgbClr val="18324A"/>
                </a:solidFill>
              </a:rPr>
              <a:t>shared MLP | 56,457 params</a:t>
            </a:r>
          </a:p>
        </p:txBody>
      </p:sp>
      <p:cxnSp>
        <p:nvCxnSpPr>
          <p:cNvPr id="119" name=""/>
          <p:cNvCxnSpPr>
            <a:stCxn xmlns:a="http://schemas.openxmlformats.org/drawingml/2006/main" id="31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2076450" y="3009900"/>
            <a:ext cx="5905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20" name=""/>
          <p:cNvCxnSpPr>
            <a:stCxn xmlns:a="http://schemas.openxmlformats.org/drawingml/2006/main" id="33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 flipV="1">
            <a:off x="2076450" y="3533775"/>
            <a:ext cx="59055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35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4457700" y="300990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37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4457700" y="40671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40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 flipV="1">
            <a:off x="7286625" y="3009900"/>
            <a:ext cx="619125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6EA8"/>
            </a:solidFill>
            <a:prstDash val="solid"/>
            <a:headEnd type="arrow" w="med" len="med"/>
          </a:ln>
        </p:spPr>
      </p:cxnSp>
      <p:cxnSp>
        <p:nvCxnSpPr>
          <p:cNvPr id="124" name=""/>
          <p:cNvCxnSpPr>
            <a:stCxn xmlns:a="http://schemas.openxmlformats.org/drawingml/2006/main" id="40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7286625" y="3495675"/>
            <a:ext cx="61912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A8C82"/>
            </a:solidFill>
            <a:prstDash val="solid"/>
            <a:head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42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9715500" y="3495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4863B"/>
            </a:solidFill>
            <a:prstDash val="solid"/>
            <a:head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D20D1E-7D08-4F0B-9845-697ECA97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B87"/>
                </a:solidFill>
              </a:defRPr>
            </a:pPr>
            <a:r>
              <a:rPr sz="1050" b="0">
                <a:solidFill>
                  <a:srgbClr val="6E7B87"/>
                </a:solidFill>
              </a:rPr>
              <a:t>paired targets at fixed physical horizons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92BFA2-236E-48A3-B2F8-9220FC3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38650"/>
            <a:ext cx="8763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E69853-1CF3-4FDE-96CE-9DB6A25F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86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863B"/>
                </a:solidFill>
              </a:defRPr>
            </a:pPr>
            <a:r>
              <a:rPr sz="1125" b="1">
                <a:solidFill>
                  <a:srgbClr val="D4863B"/>
                </a:solidFill>
              </a:rPr>
              <a:t>120 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0E35FF-D8B9-4120-86A1-70D9F3E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38650"/>
            <a:ext cx="8763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3CFBE6-2FF1-4A59-A97A-D38B3B5E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86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863B"/>
                </a:solidFill>
              </a:defRPr>
            </a:pPr>
            <a:r>
              <a:rPr sz="1125" b="1">
                <a:solidFill>
                  <a:srgbClr val="D4863B"/>
                </a:solidFill>
              </a:rPr>
              <a:t>360 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C7C919-94CB-4016-8B77-AF609B6B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438650"/>
            <a:ext cx="8763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7130DB-E202-489F-B0F1-982F0BC3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486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863B"/>
                </a:solidFill>
              </a:defRPr>
            </a:pPr>
            <a:r>
              <a:rPr sz="1125" b="1">
                <a:solidFill>
                  <a:srgbClr val="D4863B"/>
                </a:solidFill>
              </a:rPr>
              <a:t>720 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6CF518-A037-4182-8FFD-EA87A72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910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7B87"/>
                </a:solidFill>
              </a:defRPr>
            </a:pPr>
            <a:r>
              <a:rPr sz="1050" b="0">
                <a:solidFill>
                  <a:srgbClr val="6E7B87"/>
                </a:solidFill>
              </a:rPr>
              <a:t>energy | tasks | charge queue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B56DFF-908E-4F8C-A400-71524678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24450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AD3D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FF7CF0-85A8-43AC-A91C-CE6B47F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57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24A"/>
          </a:solidFill>
          <a:ln xmlns:a="http://schemas.openxmlformats.org/drawingml/2006/main" w="0">
            <a:solidFill>
              <a:srgbClr val="1832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91B715-F05A-47C1-A9C3-45585AEA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76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C40BF8-6C28-4E44-81FF-968218DB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24A"/>
                </a:solidFill>
              </a:defRPr>
            </a:pPr>
            <a:r>
              <a:rPr sz="1800" b="1">
                <a:solidFill>
                  <a:srgbClr val="18324A"/>
                </a:solidFill>
              </a:rPr>
              <a:t>Selective authority gate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291B2F-7927-4DA8-B0AE-FAAD366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9812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B6EA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A3C22A-DFC0-4E1F-B54B-0C8C853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Rank candidates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2F2801-0F1B-4FE7-A9A4-F641E65C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86450"/>
            <a:ext cx="19812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4F1"/>
          </a:solidFill>
          <a:ln xmlns:a="http://schemas.openxmlformats.org/drawingml/2006/main" w="14288">
            <a:solidFill>
              <a:srgbClr val="2A8C8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951534-C2F0-4028-887F-5DE53A7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340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Agreement + margin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08568A-DA73-4F8E-A69A-3FD0DA57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86450"/>
            <a:ext cx="19812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AF0E5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852FFE-DE42-4F8E-A0F6-A0ED968D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340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Safety + cooldown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72D5B2-4C5E-422D-B6D6-D7B0C80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86450"/>
            <a:ext cx="19812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4863B"/>
          </a:solidFill>
          <a:ln xmlns:a="http://schemas.openxmlformats.org/drawingml/2006/main" w="14288">
            <a:solidFill>
              <a:srgbClr val="D4863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1217FC-0865-4C7D-9636-D74EBB77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34075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Shadow advice</a:t>
            </a:r>
          </a:p>
        </p:txBody>
      </p:sp>
      <p:cxnSp>
        <p:nvCxnSpPr>
          <p:cNvPr id="146" name=""/>
          <p:cNvCxnSpPr>
            <a:stCxn xmlns:a="http://schemas.openxmlformats.org/drawingml/2006/main" id="65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2686050" y="61150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147" name=""/>
          <p:cNvCxnSpPr>
            <a:stCxn xmlns:a="http://schemas.openxmlformats.org/drawingml/2006/main" id="67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5353050" y="61150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324A"/>
            </a:solidFill>
            <a:prstDash val="solid"/>
            <a:head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69" idx="1"/>
            <a:endCxn xmlns:a="http://schemas.openxmlformats.org/drawingml/2006/main" id="67" idx="3"/>
          </p:cNvCxnSpPr>
          <p:nvPr/>
        </p:nvCxnSpPr>
        <p:spPr>
          <a:xfrm xmlns:a="http://schemas.openxmlformats.org/drawingml/2006/main" flipH="1">
            <a:off x="8020050" y="61150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324A"/>
            </a:solidFill>
            <a:prstDash val="solid"/>
            <a:headEnd type="arrow" w="med" len="med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DE0FA89-7FC7-433C-99E6-A6639F10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19850"/>
            <a:ext cx="28575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9EDEC"/>
          </a:solidFill>
          <a:ln xmlns:a="http://schemas.openxmlformats.org/drawingml/2006/main" w="14288">
            <a:solidFill>
              <a:srgbClr val="C45A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106B8D-9758-4629-BB74-4D490A1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6747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5A4A"/>
                </a:solidFill>
              </a:defRPr>
            </a:pPr>
            <a:r>
              <a:rPr sz="1050" b="1">
                <a:solidFill>
                  <a:srgbClr val="C45A4A"/>
                </a:solidFill>
              </a:rPr>
              <a:t>uncertain / unsafe -&gt; DT-aware fallback</a:t>
            </a:r>
          </a:p>
        </p:txBody>
      </p:sp>
    </p:spTree>
    <p:extLst>
      <p:ext uri="{BB962C8B-B14F-4D97-AF65-F5344CB8AC3E}">
        <p14:creationId xmlns:p14="http://schemas.microsoft.com/office/powerpoint/2010/main" val="2019673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2026-08-18T05:07:36.1060000Z</dcterms:created>
  <dcterms:modified xsi:type="dcterms:W3CDTF">2026-08-18T05:07:36.1060000Z</dcterms:modified>
</coreProperties>
</file>