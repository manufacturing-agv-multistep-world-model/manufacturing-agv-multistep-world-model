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椭圆 94">
            <a:extLst>
              <a:ext uri="{FF2B5EF4-FFF2-40B4-BE49-F238E27FC236}">
                <a16:creationId xmlns:a16="http://schemas.microsoft.com/office/drawing/2014/main" id="{A14C209D-36FA-4372-A93E-3FEABA61CE7E}"/>
              </a:ext>
            </a:extLst>
          </p:cNvPr>
          <p:cNvSpPr>
            <a:spLocks noGrp="1"/>
          </p:cNvSpPr>
          <p:nvPr/>
        </p:nvSpPr>
        <p:spPr>
          <a:xfrm>
            <a:off x="266700" y="190500"/>
            <a:ext cx="323850" cy="323850"/>
          </a:xfrm>
          <a:prstGeom prst="ellipse">
            <a:avLst/>
          </a:prstGeom>
          <a:solidFill>
            <a:srgbClr val="18324A"/>
          </a:solidFill>
          <a:ln w="0">
            <a:solidFill>
              <a:srgbClr val="18324A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5A01AB-6F5F-4438-A230-6DEE41515C64}"/>
              </a:ext>
            </a:extLst>
          </p:cNvPr>
          <p:cNvSpPr>
            <a:spLocks noGrp="1"/>
          </p:cNvSpPr>
          <p:nvPr/>
        </p:nvSpPr>
        <p:spPr>
          <a:xfrm>
            <a:off x="266700" y="2095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C409FD-7BDC-445A-8D49-C37D5EC602EC}"/>
              </a:ext>
            </a:extLst>
          </p:cNvPr>
          <p:cNvSpPr>
            <a:spLocks noGrp="1"/>
          </p:cNvSpPr>
          <p:nvPr/>
        </p:nvSpPr>
        <p:spPr>
          <a:xfrm>
            <a:off x="723900" y="180975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Offline manufacturing-system decision-twin workflow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27BB3C-DA10-446F-8F20-FE5380E2C237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3467100" cy="3676650"/>
          </a:xfrm>
          <a:prstGeom prst="roundRect">
            <a:avLst>
              <a:gd name="adj" fmla="val 1099"/>
            </a:avLst>
          </a:prstGeom>
          <a:solidFill>
            <a:srgbClr val="EAF1F7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4BB6515-9362-4470-B9B2-4A606975550C}"/>
              </a:ext>
            </a:extLst>
          </p:cNvPr>
          <p:cNvSpPr>
            <a:spLocks noGrp="1"/>
          </p:cNvSpPr>
          <p:nvPr/>
        </p:nvSpPr>
        <p:spPr>
          <a:xfrm>
            <a:off x="4362450" y="723900"/>
            <a:ext cx="3467100" cy="3676650"/>
          </a:xfrm>
          <a:prstGeom prst="roundRect">
            <a:avLst>
              <a:gd name="adj" fmla="val 1099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05D6EB-9C53-44B1-9614-DED1D9C18025}"/>
              </a:ext>
            </a:extLst>
          </p:cNvPr>
          <p:cNvSpPr>
            <a:spLocks noGrp="1"/>
          </p:cNvSpPr>
          <p:nvPr/>
        </p:nvSpPr>
        <p:spPr>
          <a:xfrm>
            <a:off x="8267700" y="723900"/>
            <a:ext cx="3467100" cy="3676650"/>
          </a:xfrm>
          <a:prstGeom prst="roundRect">
            <a:avLst>
              <a:gd name="adj" fmla="val 1099"/>
            </a:avLst>
          </a:prstGeom>
          <a:solidFill>
            <a:srgbClr val="FAF0E5"/>
          </a:solidFill>
          <a:ln w="14288">
            <a:solidFill>
              <a:srgbClr val="D4863B"/>
            </a:solidFill>
            <a:prstDash val="solid"/>
          </a:ln>
        </p:spPr>
      </p:sp>
      <p:cxnSp>
        <p:nvCxnSpPr>
          <p:cNvPr id="195" name="直接箭头连接符 194"/>
          <p:cNvCxnSpPr>
            <a:stCxn id="5" idx="1"/>
            <a:endCxn id="4" idx="3"/>
          </p:cNvCxnSpPr>
          <p:nvPr/>
        </p:nvCxnSpPr>
        <p:spPr>
          <a:xfrm flipH="1">
            <a:off x="3924300" y="2562225"/>
            <a:ext cx="438150" cy="0"/>
          </a:xfrm>
          <a:prstGeom prst="straightConnector1">
            <a:avLst/>
          </a:prstGeom>
          <a:ln w="3048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96" name="直接箭头连接符 195"/>
          <p:cNvCxnSpPr>
            <a:stCxn id="6" idx="1"/>
            <a:endCxn id="5" idx="3"/>
          </p:cNvCxnSpPr>
          <p:nvPr/>
        </p:nvCxnSpPr>
        <p:spPr>
          <a:xfrm flipH="1">
            <a:off x="7829550" y="2562225"/>
            <a:ext cx="438150" cy="0"/>
          </a:xfrm>
          <a:prstGeom prst="straightConnector1">
            <a:avLst/>
          </a:prstGeom>
          <a:ln w="30480">
            <a:solidFill>
              <a:srgbClr val="18324A"/>
            </a:solidFill>
            <a:prstDash val="solid"/>
            <a:headEnd type="arrow" w="med" len="me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32DE3032-8FEA-442D-9C9D-D00C45A563DD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3B6EA8"/>
                </a:solidFill>
              </a:defRPr>
            </a:pPr>
            <a:r>
              <a:rPr sz="1500" b="1">
                <a:solidFill>
                  <a:srgbClr val="3B6EA8"/>
                </a:solidFill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4983CB-3F14-4906-B042-012BB43A047D}"/>
              </a:ext>
            </a:extLst>
          </p:cNvPr>
          <p:cNvSpPr>
            <a:spLocks noGrp="1"/>
          </p:cNvSpPr>
          <p:nvPr/>
        </p:nvSpPr>
        <p:spPr>
          <a:xfrm>
            <a:off x="971550" y="847725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Manufacturing-system twin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10B6E13-DE39-4AC0-95BA-5028CB9CA3A9}"/>
              </a:ext>
            </a:extLst>
          </p:cNvPr>
          <p:cNvSpPr>
            <a:spLocks noGrp="1"/>
          </p:cNvSpPr>
          <p:nvPr/>
        </p:nvSpPr>
        <p:spPr>
          <a:xfrm>
            <a:off x="1238250" y="2019300"/>
            <a:ext cx="590550" cy="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511A509A-B902-449E-A6CE-B314478DFDD0}"/>
              </a:ext>
            </a:extLst>
          </p:cNvPr>
          <p:cNvSpPr>
            <a:spLocks noGrp="1"/>
          </p:cNvSpPr>
          <p:nvPr/>
        </p:nvSpPr>
        <p:spPr>
          <a:xfrm>
            <a:off x="1828800" y="1695450"/>
            <a:ext cx="0" cy="32385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CC2FA45E-3E79-41C0-97E4-9D4FDE8FEA70}"/>
              </a:ext>
            </a:extLst>
          </p:cNvPr>
          <p:cNvSpPr>
            <a:spLocks noGrp="1"/>
          </p:cNvSpPr>
          <p:nvPr/>
        </p:nvSpPr>
        <p:spPr>
          <a:xfrm>
            <a:off x="1828800" y="1695450"/>
            <a:ext cx="609600" cy="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0BF46EF2-E539-4119-AE6E-84FD48588693}"/>
              </a:ext>
            </a:extLst>
          </p:cNvPr>
          <p:cNvSpPr>
            <a:spLocks noGrp="1"/>
          </p:cNvSpPr>
          <p:nvPr/>
        </p:nvSpPr>
        <p:spPr>
          <a:xfrm>
            <a:off x="2438400" y="1695450"/>
            <a:ext cx="0" cy="64770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6ABE3AC-EC4F-4DC8-B88B-B9AA73A97BFA}"/>
              </a:ext>
            </a:extLst>
          </p:cNvPr>
          <p:cNvSpPr>
            <a:spLocks noGrp="1"/>
          </p:cNvSpPr>
          <p:nvPr/>
        </p:nvSpPr>
        <p:spPr>
          <a:xfrm>
            <a:off x="2438400" y="2343150"/>
            <a:ext cx="666750" cy="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5A9D25E7-8AF2-4F96-B598-E825C295E6E2}"/>
              </a:ext>
            </a:extLst>
          </p:cNvPr>
          <p:cNvSpPr>
            <a:spLocks noGrp="1"/>
          </p:cNvSpPr>
          <p:nvPr/>
        </p:nvSpPr>
        <p:spPr>
          <a:xfrm>
            <a:off x="2438400" y="2019300"/>
            <a:ext cx="457200" cy="0"/>
          </a:xfrm>
          <a:prstGeom prst="line">
            <a:avLst/>
          </a:prstGeom>
          <a:noFill/>
          <a:ln w="28575">
            <a:solidFill>
              <a:srgbClr val="3B6EA8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D3942CD-3090-48F8-86F4-73CD3A0D3D2D}"/>
              </a:ext>
            </a:extLst>
          </p:cNvPr>
          <p:cNvSpPr>
            <a:spLocks noGrp="1"/>
          </p:cNvSpPr>
          <p:nvPr/>
        </p:nvSpPr>
        <p:spPr>
          <a:xfrm>
            <a:off x="1171575" y="1952625"/>
            <a:ext cx="133350" cy="133350"/>
          </a:xfrm>
          <a:prstGeom prst="ellipse">
            <a:avLst/>
          </a:prstGeom>
          <a:solidFill>
            <a:srgbClr val="D4863B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F3EF424-E571-476B-9FFB-ABBED513D425}"/>
              </a:ext>
            </a:extLst>
          </p:cNvPr>
          <p:cNvSpPr>
            <a:spLocks noGrp="1"/>
          </p:cNvSpPr>
          <p:nvPr/>
        </p:nvSpPr>
        <p:spPr>
          <a:xfrm>
            <a:off x="1762125" y="19526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9B2395C-E06D-4682-A0DB-9536B04DDA85}"/>
              </a:ext>
            </a:extLst>
          </p:cNvPr>
          <p:cNvSpPr>
            <a:spLocks noGrp="1"/>
          </p:cNvSpPr>
          <p:nvPr/>
        </p:nvSpPr>
        <p:spPr>
          <a:xfrm>
            <a:off x="1762125" y="162877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C633BCF-0877-4C6A-B458-72B42A97320D}"/>
              </a:ext>
            </a:extLst>
          </p:cNvPr>
          <p:cNvSpPr>
            <a:spLocks noGrp="1"/>
          </p:cNvSpPr>
          <p:nvPr/>
        </p:nvSpPr>
        <p:spPr>
          <a:xfrm>
            <a:off x="2371725" y="1628775"/>
            <a:ext cx="133350" cy="133350"/>
          </a:xfrm>
          <a:prstGeom prst="ellipse">
            <a:avLst/>
          </a:prstGeom>
          <a:solidFill>
            <a:srgbClr val="D4863B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BD6BC22-B691-4453-BA12-E982894DB90F}"/>
              </a:ext>
            </a:extLst>
          </p:cNvPr>
          <p:cNvSpPr>
            <a:spLocks noGrp="1"/>
          </p:cNvSpPr>
          <p:nvPr/>
        </p:nvSpPr>
        <p:spPr>
          <a:xfrm>
            <a:off x="2371725" y="19526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5BF441C-1210-44B3-8EF5-DA76977C09DA}"/>
              </a:ext>
            </a:extLst>
          </p:cNvPr>
          <p:cNvSpPr>
            <a:spLocks noGrp="1"/>
          </p:cNvSpPr>
          <p:nvPr/>
        </p:nvSpPr>
        <p:spPr>
          <a:xfrm>
            <a:off x="2371725" y="227647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6182EA5-0AD7-4B21-A307-A760D5902BC7}"/>
              </a:ext>
            </a:extLst>
          </p:cNvPr>
          <p:cNvSpPr>
            <a:spLocks noGrp="1"/>
          </p:cNvSpPr>
          <p:nvPr/>
        </p:nvSpPr>
        <p:spPr>
          <a:xfrm>
            <a:off x="3038475" y="2276475"/>
            <a:ext cx="133350" cy="133350"/>
          </a:xfrm>
          <a:prstGeom prst="ellipse">
            <a:avLst/>
          </a:prstGeom>
          <a:solidFill>
            <a:srgbClr val="D4863B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CC786E5-406C-4D4B-A622-B49194C8EBF4}"/>
              </a:ext>
            </a:extLst>
          </p:cNvPr>
          <p:cNvSpPr>
            <a:spLocks noGrp="1"/>
          </p:cNvSpPr>
          <p:nvPr/>
        </p:nvSpPr>
        <p:spPr>
          <a:xfrm>
            <a:off x="2828925" y="19526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EA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3E9ED0-A7EB-465E-A7F6-31B7B252947B}"/>
              </a:ext>
            </a:extLst>
          </p:cNvPr>
          <p:cNvSpPr>
            <a:spLocks noGrp="1"/>
          </p:cNvSpPr>
          <p:nvPr/>
        </p:nvSpPr>
        <p:spPr>
          <a:xfrm>
            <a:off x="819150" y="25336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20-node route graph | 3 AGVs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E883586-E21A-4F41-8416-CB7406960A46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281940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FB8F43-5DFF-4812-B2F7-C696D53A6302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Kinematics + handling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A582C6E-5D6C-4A58-80CC-3A3F67E019F3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281940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000D7EC-84AE-4A2F-8706-C47FDE9BB011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Battery + charging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2AEB7BF-3120-4B69-A948-3CC7DC18141B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281940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525F07-D199-4863-B9DF-60B4175AC2A3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Path-resource contention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626331-5917-48B2-83FB-FEE4EED3F0B7}"/>
              </a:ext>
            </a:extLst>
          </p:cNvPr>
          <p:cNvSpPr>
            <a:spLocks noGrp="1"/>
          </p:cNvSpPr>
          <p:nvPr/>
        </p:nvSpPr>
        <p:spPr>
          <a:xfrm>
            <a:off x="4533900" y="8667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A8C82"/>
                </a:solidFill>
              </a:defRPr>
            </a:pPr>
            <a:r>
              <a:rPr sz="1500" b="1">
                <a:solidFill>
                  <a:srgbClr val="2A8C82"/>
                </a:solidFill>
              </a:rPr>
              <a:t>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AD84D4-86DD-4229-8DBB-E8F54847415E}"/>
              </a:ext>
            </a:extLst>
          </p:cNvPr>
          <p:cNvSpPr>
            <a:spLocks noGrp="1"/>
          </p:cNvSpPr>
          <p:nvPr/>
        </p:nvSpPr>
        <p:spPr>
          <a:xfrm>
            <a:off x="4829175" y="85725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Paired multistep world model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FCBAAD6-6E88-4400-89F8-C9EBDE5659F4}"/>
              </a:ext>
            </a:extLst>
          </p:cNvPr>
          <p:cNvSpPr>
            <a:spLocks noGrp="1"/>
          </p:cNvSpPr>
          <p:nvPr/>
        </p:nvSpPr>
        <p:spPr>
          <a:xfrm>
            <a:off x="4629150" y="1514475"/>
            <a:ext cx="11620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84E6F7A-80B7-4465-A188-71C37E40FDC1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1009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Baseline A0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A2DF8F0-8AA7-4D8D-8B15-4643EA4E844A}"/>
              </a:ext>
            </a:extLst>
          </p:cNvPr>
          <p:cNvSpPr>
            <a:spLocks noGrp="1"/>
          </p:cNvSpPr>
          <p:nvPr/>
        </p:nvSpPr>
        <p:spPr>
          <a:xfrm>
            <a:off x="4629150" y="1943100"/>
            <a:ext cx="11620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982AF9-7C1E-47C4-ADCA-18D5692D0754}"/>
              </a:ext>
            </a:extLst>
          </p:cNvPr>
          <p:cNvSpPr>
            <a:spLocks noGrp="1"/>
          </p:cNvSpPr>
          <p:nvPr/>
        </p:nvSpPr>
        <p:spPr>
          <a:xfrm>
            <a:off x="4705350" y="1990725"/>
            <a:ext cx="1009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Candidate Ac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D5B19DF-0480-4AC0-8126-CD4B9761766A}"/>
              </a:ext>
            </a:extLst>
          </p:cNvPr>
          <p:cNvSpPr>
            <a:spLocks noGrp="1"/>
          </p:cNvSpPr>
          <p:nvPr/>
        </p:nvSpPr>
        <p:spPr>
          <a:xfrm>
            <a:off x="6115050" y="1485900"/>
            <a:ext cx="13716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7F74229-7D36-45CE-A583-7341BF0A6E7D}"/>
              </a:ext>
            </a:extLst>
          </p:cNvPr>
          <p:cNvSpPr>
            <a:spLocks noGrp="1"/>
          </p:cNvSpPr>
          <p:nvPr/>
        </p:nvSpPr>
        <p:spPr>
          <a:xfrm>
            <a:off x="6191250" y="1533525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Physics-graph</a:t>
            </a:r>
          </a:p>
          <a:p>
            <a:pPr algn="ctr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backbone</a:t>
            </a:r>
          </a:p>
        </p:txBody>
      </p:sp>
      <p:cxnSp>
        <p:nvCxnSpPr>
          <p:cNvPr id="228" name="直接箭头连接符 227"/>
          <p:cNvCxnSpPr>
            <a:stCxn id="38" idx="1"/>
            <a:endCxn id="34" idx="3"/>
          </p:cNvCxnSpPr>
          <p:nvPr/>
        </p:nvCxnSpPr>
        <p:spPr>
          <a:xfrm flipH="1" flipV="1">
            <a:off x="5791200" y="1657350"/>
            <a:ext cx="323850" cy="247650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229" name="直接箭头连接符 228"/>
          <p:cNvCxnSpPr>
            <a:stCxn id="38" idx="1"/>
            <a:endCxn id="36" idx="3"/>
          </p:cNvCxnSpPr>
          <p:nvPr/>
        </p:nvCxnSpPr>
        <p:spPr>
          <a:xfrm flipH="1">
            <a:off x="5791200" y="1905000"/>
            <a:ext cx="323850" cy="180975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58EDDB5-59D3-4366-A1F7-74D647552942}"/>
              </a:ext>
            </a:extLst>
          </p:cNvPr>
          <p:cNvSpPr>
            <a:spLocks noGrp="1"/>
          </p:cNvSpPr>
          <p:nvPr/>
        </p:nvSpPr>
        <p:spPr>
          <a:xfrm>
            <a:off x="4953000" y="2647950"/>
            <a:ext cx="22860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7F495F-A052-4D44-BC95-AA05DD71EBEF}"/>
              </a:ext>
            </a:extLst>
          </p:cNvPr>
          <p:cNvSpPr>
            <a:spLocks noGrp="1"/>
          </p:cNvSpPr>
          <p:nvPr/>
        </p:nvSpPr>
        <p:spPr>
          <a:xfrm>
            <a:off x="5029200" y="269557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Paired future effects</a:t>
            </a:r>
          </a:p>
        </p:txBody>
      </p:sp>
      <p:cxnSp>
        <p:nvCxnSpPr>
          <p:cNvPr id="232" name="直接箭头连接符 231"/>
          <p:cNvCxnSpPr>
            <a:stCxn id="42" idx="0"/>
            <a:endCxn id="38" idx="2"/>
          </p:cNvCxnSpPr>
          <p:nvPr/>
        </p:nvCxnSpPr>
        <p:spPr>
          <a:xfrm flipV="1">
            <a:off x="6096000" y="2324100"/>
            <a:ext cx="704850" cy="323850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51A65DF8-9EFC-43A6-8CCE-D73AA7968B05}"/>
              </a:ext>
            </a:extLst>
          </p:cNvPr>
          <p:cNvSpPr>
            <a:spLocks noGrp="1"/>
          </p:cNvSpPr>
          <p:nvPr/>
        </p:nvSpPr>
        <p:spPr>
          <a:xfrm>
            <a:off x="4572000" y="3181350"/>
            <a:ext cx="304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energy | completed tasks | charging-queue risk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6254271-168E-45C2-9928-58C517A34068}"/>
              </a:ext>
            </a:extLst>
          </p:cNvPr>
          <p:cNvSpPr>
            <a:spLocks noGrp="1"/>
          </p:cNvSpPr>
          <p:nvPr/>
        </p:nvSpPr>
        <p:spPr>
          <a:xfrm>
            <a:off x="4695825" y="3629025"/>
            <a:ext cx="8382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9B78FA-42DF-4901-8CF3-EFF261E243AD}"/>
              </a:ext>
            </a:extLst>
          </p:cNvPr>
          <p:cNvSpPr>
            <a:spLocks noGrp="1"/>
          </p:cNvSpPr>
          <p:nvPr/>
        </p:nvSpPr>
        <p:spPr>
          <a:xfrm>
            <a:off x="4772025" y="36766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120 s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FB362A4-B62C-434D-81A1-AA6D4CD10965}"/>
              </a:ext>
            </a:extLst>
          </p:cNvPr>
          <p:cNvSpPr>
            <a:spLocks noGrp="1"/>
          </p:cNvSpPr>
          <p:nvPr/>
        </p:nvSpPr>
        <p:spPr>
          <a:xfrm>
            <a:off x="5676900" y="3629025"/>
            <a:ext cx="8382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1BFF913-9991-4E40-B9AF-2C35FF44DCDF}"/>
              </a:ext>
            </a:extLst>
          </p:cNvPr>
          <p:cNvSpPr>
            <a:spLocks noGrp="1"/>
          </p:cNvSpPr>
          <p:nvPr/>
        </p:nvSpPr>
        <p:spPr>
          <a:xfrm>
            <a:off x="5753100" y="36766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360 s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B852175-432A-4F88-9D95-25305EBDEB63}"/>
              </a:ext>
            </a:extLst>
          </p:cNvPr>
          <p:cNvSpPr>
            <a:spLocks noGrp="1"/>
          </p:cNvSpPr>
          <p:nvPr/>
        </p:nvSpPr>
        <p:spPr>
          <a:xfrm>
            <a:off x="6657975" y="3629025"/>
            <a:ext cx="8382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F5DA9B8-1C78-4D21-926E-1225692E0748}"/>
              </a:ext>
            </a:extLst>
          </p:cNvPr>
          <p:cNvSpPr>
            <a:spLocks noGrp="1"/>
          </p:cNvSpPr>
          <p:nvPr/>
        </p:nvSpPr>
        <p:spPr>
          <a:xfrm>
            <a:off x="6734175" y="36766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720 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9997F60-4CC7-4350-840D-019F7A9204C3}"/>
              </a:ext>
            </a:extLst>
          </p:cNvPr>
          <p:cNvSpPr>
            <a:spLocks noGrp="1"/>
          </p:cNvSpPr>
          <p:nvPr/>
        </p:nvSpPr>
        <p:spPr>
          <a:xfrm>
            <a:off x="4914900" y="40481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explicit physical-time horizons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F1F8CFE-2FC0-496F-B9FA-CE6595AE9650}"/>
              </a:ext>
            </a:extLst>
          </p:cNvPr>
          <p:cNvSpPr>
            <a:spLocks noGrp="1"/>
          </p:cNvSpPr>
          <p:nvPr/>
        </p:nvSpPr>
        <p:spPr>
          <a:xfrm>
            <a:off x="8439150" y="8667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D4863B"/>
                </a:solidFill>
              </a:defRPr>
            </a:pPr>
            <a:r>
              <a:rPr sz="1500" b="1">
                <a:solidFill>
                  <a:srgbClr val="D4863B"/>
                </a:solidFill>
              </a:rPr>
              <a:t>3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B74E82-7A93-4F12-ADD2-033F37FABDEF}"/>
              </a:ext>
            </a:extLst>
          </p:cNvPr>
          <p:cNvSpPr>
            <a:spLocks noGrp="1"/>
          </p:cNvSpPr>
          <p:nvPr/>
        </p:nvSpPr>
        <p:spPr>
          <a:xfrm>
            <a:off x="8782050" y="847725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Selective decision support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47E84534-B5E8-4901-B595-FAEC455D9985}"/>
              </a:ext>
            </a:extLst>
          </p:cNvPr>
          <p:cNvSpPr>
            <a:spLocks noGrp="1"/>
          </p:cNvSpPr>
          <p:nvPr/>
        </p:nvSpPr>
        <p:spPr>
          <a:xfrm>
            <a:off x="8772525" y="1438275"/>
            <a:ext cx="24574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034BB1-EB34-4BEC-817B-97BC5B994F76}"/>
              </a:ext>
            </a:extLst>
          </p:cNvPr>
          <p:cNvSpPr>
            <a:spLocks noGrp="1"/>
          </p:cNvSpPr>
          <p:nvPr/>
        </p:nvSpPr>
        <p:spPr>
          <a:xfrm>
            <a:off x="8848725" y="148590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Rank candidate actions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7EA1978-C0BA-48AF-A7BC-F6A41228B763}"/>
              </a:ext>
            </a:extLst>
          </p:cNvPr>
          <p:cNvSpPr>
            <a:spLocks noGrp="1"/>
          </p:cNvSpPr>
          <p:nvPr/>
        </p:nvSpPr>
        <p:spPr>
          <a:xfrm>
            <a:off x="8772525" y="2028825"/>
            <a:ext cx="24574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E381DFD-55B9-4283-8CD8-38F654213E93}"/>
              </a:ext>
            </a:extLst>
          </p:cNvPr>
          <p:cNvSpPr>
            <a:spLocks noGrp="1"/>
          </p:cNvSpPr>
          <p:nvPr/>
        </p:nvSpPr>
        <p:spPr>
          <a:xfrm>
            <a:off x="8848725" y="20764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Agreement + utility margin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5D1FB49-1308-4B18-B852-9DE6B7C10C90}"/>
              </a:ext>
            </a:extLst>
          </p:cNvPr>
          <p:cNvSpPr>
            <a:spLocks noGrp="1"/>
          </p:cNvSpPr>
          <p:nvPr/>
        </p:nvSpPr>
        <p:spPr>
          <a:xfrm>
            <a:off x="8772525" y="2619375"/>
            <a:ext cx="24574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4BB1E4A-7B63-4561-9E9C-FCC0B73E0DC9}"/>
              </a:ext>
            </a:extLst>
          </p:cNvPr>
          <p:cNvSpPr>
            <a:spLocks noGrp="1"/>
          </p:cNvSpPr>
          <p:nvPr/>
        </p:nvSpPr>
        <p:spPr>
          <a:xfrm>
            <a:off x="8848725" y="266700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Hard safety + cooldown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F8C8A538-21D9-42C7-9444-5E2E0B96E1BF}"/>
              </a:ext>
            </a:extLst>
          </p:cNvPr>
          <p:cNvSpPr>
            <a:spLocks noGrp="1"/>
          </p:cNvSpPr>
          <p:nvPr/>
        </p:nvSpPr>
        <p:spPr>
          <a:xfrm>
            <a:off x="8772525" y="3209925"/>
            <a:ext cx="2457450" cy="476250"/>
          </a:xfrm>
          <a:prstGeom prst="roundRect">
            <a:avLst>
              <a:gd name="adj" fmla="val 8000"/>
            </a:avLst>
          </a:prstGeom>
          <a:solidFill>
            <a:srgbClr val="D4863B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1A45D56-282D-4788-9B61-B1F1B169DB7C}"/>
              </a:ext>
            </a:extLst>
          </p:cNvPr>
          <p:cNvSpPr>
            <a:spLocks noGrp="1"/>
          </p:cNvSpPr>
          <p:nvPr/>
        </p:nvSpPr>
        <p:spPr>
          <a:xfrm>
            <a:off x="8848725" y="3257550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Shadow recommendation</a:t>
            </a:r>
          </a:p>
        </p:txBody>
      </p:sp>
      <p:cxnSp>
        <p:nvCxnSpPr>
          <p:cNvPr id="251" name="直接箭头连接符 250"/>
          <p:cNvCxnSpPr>
            <a:stCxn id="57" idx="0"/>
            <a:endCxn id="55" idx="2"/>
          </p:cNvCxnSpPr>
          <p:nvPr/>
        </p:nvCxnSpPr>
        <p:spPr>
          <a:xfrm flipV="1">
            <a:off x="10001250" y="1838325"/>
            <a:ext cx="0" cy="190500"/>
          </a:xfrm>
          <a:prstGeom prst="straightConnector1">
            <a:avLst/>
          </a:prstGeom>
          <a:ln w="20003">
            <a:solidFill>
              <a:srgbClr val="D4863B"/>
            </a:solidFill>
            <a:prstDash val="solid"/>
            <a:headEnd type="arrow" w="med" len="med"/>
          </a:ln>
        </p:spPr>
      </p:cxnSp>
      <p:cxnSp>
        <p:nvCxnSpPr>
          <p:cNvPr id="252" name="直接箭头连接符 251"/>
          <p:cNvCxnSpPr>
            <a:stCxn id="59" idx="0"/>
            <a:endCxn id="57" idx="2"/>
          </p:cNvCxnSpPr>
          <p:nvPr/>
        </p:nvCxnSpPr>
        <p:spPr>
          <a:xfrm flipV="1">
            <a:off x="10001250" y="2428875"/>
            <a:ext cx="0" cy="190500"/>
          </a:xfrm>
          <a:prstGeom prst="straightConnector1">
            <a:avLst/>
          </a:prstGeom>
          <a:ln w="20003">
            <a:solidFill>
              <a:srgbClr val="D4863B"/>
            </a:solidFill>
            <a:prstDash val="solid"/>
            <a:headEnd type="arrow" w="med" len="med"/>
          </a:ln>
        </p:spPr>
      </p:cxnSp>
      <p:cxnSp>
        <p:nvCxnSpPr>
          <p:cNvPr id="253" name="直接箭头连接符 252"/>
          <p:cNvCxnSpPr>
            <a:stCxn id="61" idx="0"/>
            <a:endCxn id="59" idx="2"/>
          </p:cNvCxnSpPr>
          <p:nvPr/>
        </p:nvCxnSpPr>
        <p:spPr>
          <a:xfrm flipV="1">
            <a:off x="10001250" y="3019425"/>
            <a:ext cx="0" cy="190500"/>
          </a:xfrm>
          <a:prstGeom prst="straightConnector1">
            <a:avLst/>
          </a:prstGeom>
          <a:ln w="20003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5B16ABC-CD72-473C-B6E5-1D806073C6EF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3143250" cy="419100"/>
          </a:xfrm>
          <a:prstGeom prst="roundRect">
            <a:avLst>
              <a:gd name="adj" fmla="val 10526"/>
            </a:avLst>
          </a:prstGeom>
          <a:solidFill>
            <a:srgbClr val="F9EDEC"/>
          </a:solidFill>
          <a:ln w="14288">
            <a:solidFill>
              <a:srgbClr val="C45A4A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1F73B38-E553-48DE-A99D-B177126E4E34}"/>
              </a:ext>
            </a:extLst>
          </p:cNvPr>
          <p:cNvSpPr>
            <a:spLocks noGrp="1"/>
          </p:cNvSpPr>
          <p:nvPr/>
        </p:nvSpPr>
        <p:spPr>
          <a:xfrm>
            <a:off x="8515350" y="3876675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5545"/>
                </a:solidFill>
              </a:defRPr>
            </a:pPr>
            <a:r>
              <a:rPr sz="900" b="1">
                <a:solidFill>
                  <a:srgbClr val="C85545"/>
                </a:solidFill>
              </a:rPr>
              <a:t>Uncertain/unsafe: retain DT-aware action</a:t>
            </a:r>
          </a:p>
        </p:txBody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7C396AE7-7775-4F03-878D-60ACFFFC65D7}"/>
              </a:ext>
            </a:extLst>
          </p:cNvPr>
          <p:cNvSpPr>
            <a:spLocks noGrp="1"/>
          </p:cNvSpPr>
          <p:nvPr/>
        </p:nvSpPr>
        <p:spPr>
          <a:xfrm>
            <a:off x="266700" y="4619625"/>
            <a:ext cx="11658600" cy="0"/>
          </a:xfrm>
          <a:prstGeom prst="line">
            <a:avLst/>
          </a:prstGeom>
          <a:noFill/>
          <a:ln w="11430">
            <a:solidFill>
              <a:srgbClr val="CAD3DB"/>
            </a:solidFill>
            <a:prstDash val="solid"/>
          </a:ln>
        </p:spPr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2EB6F218-F315-42A5-9DAC-5CD5068FFDB2}"/>
              </a:ext>
            </a:extLst>
          </p:cNvPr>
          <p:cNvSpPr>
            <a:spLocks noGrp="1"/>
          </p:cNvSpPr>
          <p:nvPr/>
        </p:nvSpPr>
        <p:spPr>
          <a:xfrm>
            <a:off x="266700" y="4810125"/>
            <a:ext cx="323850" cy="323850"/>
          </a:xfrm>
          <a:prstGeom prst="ellipse">
            <a:avLst/>
          </a:prstGeom>
          <a:solidFill>
            <a:srgbClr val="18324A"/>
          </a:solidFill>
          <a:ln w="0">
            <a:solidFill>
              <a:srgbClr val="18324A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AA12906-4AA2-4466-B2A7-BBFFC7195408}"/>
              </a:ext>
            </a:extLst>
          </p:cNvPr>
          <p:cNvSpPr>
            <a:spLocks noGrp="1"/>
          </p:cNvSpPr>
          <p:nvPr/>
        </p:nvSpPr>
        <p:spPr>
          <a:xfrm>
            <a:off x="266700" y="48291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3D2D1D2-F90C-4360-B5E9-ADAAB13CF5CC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Evidence and authority ladder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76BA92D-BB81-4D26-BE93-8485A6820347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2457450" cy="1066800"/>
          </a:xfrm>
          <a:prstGeom prst="roundRect">
            <a:avLst>
              <a:gd name="adj" fmla="val 3571"/>
            </a:avLst>
          </a:prstGeom>
          <a:solidFill>
            <a:srgbClr val="EAF1F7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AE51F694-CCF9-489D-A7AF-63DC8F345615}"/>
              </a:ext>
            </a:extLst>
          </p:cNvPr>
          <p:cNvSpPr>
            <a:spLocks noGrp="1"/>
          </p:cNvSpPr>
          <p:nvPr/>
        </p:nvSpPr>
        <p:spPr>
          <a:xfrm>
            <a:off x="571500" y="5562600"/>
            <a:ext cx="323850" cy="323850"/>
          </a:xfrm>
          <a:prstGeom prst="ellipse">
            <a:avLst/>
          </a:prstGeom>
          <a:solidFill>
            <a:srgbClr val="3B6EA8"/>
          </a:solidFill>
          <a:ln w="0">
            <a:solidFill>
              <a:srgbClr val="3B6EA8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109BA95-3A47-469A-8DAE-6B3E53CB1DAC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45B29DD-588C-4CFA-8DAD-983692316101}"/>
              </a:ext>
            </a:extLst>
          </p:cNvPr>
          <p:cNvSpPr>
            <a:spLocks noGrp="1"/>
          </p:cNvSpPr>
          <p:nvPr/>
        </p:nvSpPr>
        <p:spPr>
          <a:xfrm>
            <a:off x="990600" y="55530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Physics fidelity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B2F3462-E7E7-4E4D-ADE7-A53BC24A4EBD}"/>
              </a:ext>
            </a:extLst>
          </p:cNvPr>
          <p:cNvSpPr>
            <a:spLocks noGrp="1"/>
          </p:cNvSpPr>
          <p:nvPr/>
        </p:nvSpPr>
        <p:spPr>
          <a:xfrm>
            <a:off x="990600" y="5886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factorial ablation</a:t>
            </a:r>
          </a:p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multistep validation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3EC0D32-1BFA-4D99-A5CE-EAB430D5192D}"/>
              </a:ext>
            </a:extLst>
          </p:cNvPr>
          <p:cNvSpPr>
            <a:spLocks noGrp="1"/>
          </p:cNvSpPr>
          <p:nvPr/>
        </p:nvSpPr>
        <p:spPr>
          <a:xfrm>
            <a:off x="3343275" y="5429250"/>
            <a:ext cx="2457450" cy="1066800"/>
          </a:xfrm>
          <a:prstGeom prst="roundRect">
            <a:avLst>
              <a:gd name="adj" fmla="val 3571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921220DC-0E1D-4022-8B56-A2F0229807BB}"/>
              </a:ext>
            </a:extLst>
          </p:cNvPr>
          <p:cNvSpPr>
            <a:spLocks noGrp="1"/>
          </p:cNvSpPr>
          <p:nvPr/>
        </p:nvSpPr>
        <p:spPr>
          <a:xfrm>
            <a:off x="3457575" y="5562600"/>
            <a:ext cx="323850" cy="323850"/>
          </a:xfrm>
          <a:prstGeom prst="ellipse">
            <a:avLst/>
          </a:prstGeom>
          <a:solidFill>
            <a:srgbClr val="2A8C82"/>
          </a:solidFill>
          <a:ln w="0">
            <a:solidFill>
              <a:srgbClr val="2A8C82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89EF1DE-4674-4B8F-86E9-E844D5A91925}"/>
              </a:ext>
            </a:extLst>
          </p:cNvPr>
          <p:cNvSpPr>
            <a:spLocks noGrp="1"/>
          </p:cNvSpPr>
          <p:nvPr/>
        </p:nvSpPr>
        <p:spPr>
          <a:xfrm>
            <a:off x="3457575" y="5581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A3A69FF-2DE3-42A9-9C3F-E97A778CC04E}"/>
              </a:ext>
            </a:extLst>
          </p:cNvPr>
          <p:cNvSpPr>
            <a:spLocks noGrp="1"/>
          </p:cNvSpPr>
          <p:nvPr/>
        </p:nvSpPr>
        <p:spPr>
          <a:xfrm>
            <a:off x="3876675" y="55530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Decision value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EFB7BFB-6E2D-4F79-B5CB-87FAE78EC44D}"/>
              </a:ext>
            </a:extLst>
          </p:cNvPr>
          <p:cNvSpPr>
            <a:spLocks noGrp="1"/>
          </p:cNvSpPr>
          <p:nvPr/>
        </p:nvSpPr>
        <p:spPr>
          <a:xfrm>
            <a:off x="3876675" y="5886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unseen action ranking</a:t>
            </a:r>
          </a:p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counterfactual regret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A4BC6E0F-AFF2-41A8-8D1D-821821106438}"/>
              </a:ext>
            </a:extLst>
          </p:cNvPr>
          <p:cNvSpPr>
            <a:spLocks noGrp="1"/>
          </p:cNvSpPr>
          <p:nvPr/>
        </p:nvSpPr>
        <p:spPr>
          <a:xfrm>
            <a:off x="6229350" y="5429250"/>
            <a:ext cx="2457450" cy="1066800"/>
          </a:xfrm>
          <a:prstGeom prst="roundRect">
            <a:avLst>
              <a:gd name="adj" fmla="val 3571"/>
            </a:avLst>
          </a:prstGeom>
          <a:solidFill>
            <a:srgbClr val="FAF0E5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923D4D90-3B61-4E7B-A7AE-B985196633E9}"/>
              </a:ext>
            </a:extLst>
          </p:cNvPr>
          <p:cNvSpPr>
            <a:spLocks noGrp="1"/>
          </p:cNvSpPr>
          <p:nvPr/>
        </p:nvSpPr>
        <p:spPr>
          <a:xfrm>
            <a:off x="6343650" y="5562600"/>
            <a:ext cx="323850" cy="323850"/>
          </a:xfrm>
          <a:prstGeom prst="ellipse">
            <a:avLst/>
          </a:prstGeom>
          <a:solidFill>
            <a:srgbClr val="D4863B"/>
          </a:solidFill>
          <a:ln w="0">
            <a:solidFill>
              <a:srgbClr val="D4863B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B403DD4-F977-46F3-84F6-1C9ED5C74690}"/>
              </a:ext>
            </a:extLst>
          </p:cNvPr>
          <p:cNvSpPr>
            <a:spLocks noGrp="1"/>
          </p:cNvSpPr>
          <p:nvPr/>
        </p:nvSpPr>
        <p:spPr>
          <a:xfrm>
            <a:off x="6343650" y="5581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1190C65-4367-4135-B3C8-8B6D9011E422}"/>
              </a:ext>
            </a:extLst>
          </p:cNvPr>
          <p:cNvSpPr>
            <a:spLocks noGrp="1"/>
          </p:cNvSpPr>
          <p:nvPr/>
        </p:nvSpPr>
        <p:spPr>
          <a:xfrm>
            <a:off x="6762750" y="55530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Shadow evidence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DBFFC20-8A45-47A4-890B-5C99145CA171}"/>
              </a:ext>
            </a:extLst>
          </p:cNvPr>
          <p:cNvSpPr>
            <a:spLocks noGrp="1"/>
          </p:cNvSpPr>
          <p:nvPr/>
        </p:nvSpPr>
        <p:spPr>
          <a:xfrm>
            <a:off x="6762750" y="5886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coverage and benefit</a:t>
            </a:r>
          </a:p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disagreement analysis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A28116C-B545-4B8F-B261-3C02E6C44184}"/>
              </a:ext>
            </a:extLst>
          </p:cNvPr>
          <p:cNvSpPr>
            <a:spLocks noGrp="1"/>
          </p:cNvSpPr>
          <p:nvPr/>
        </p:nvSpPr>
        <p:spPr>
          <a:xfrm>
            <a:off x="9115425" y="5429250"/>
            <a:ext cx="2457450" cy="1066800"/>
          </a:xfrm>
          <a:prstGeom prst="roundRect">
            <a:avLst>
              <a:gd name="adj" fmla="val 3571"/>
            </a:avLst>
          </a:prstGeom>
          <a:solidFill>
            <a:srgbClr val="F9EDEC"/>
          </a:solidFill>
          <a:ln w="14288">
            <a:solidFill>
              <a:srgbClr val="C45A4A"/>
            </a:solidFill>
            <a:prstDash val="solid"/>
          </a:ln>
        </p:spPr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E03562C-52F9-49C0-89CA-2836528C1F8C}"/>
              </a:ext>
            </a:extLst>
          </p:cNvPr>
          <p:cNvSpPr>
            <a:spLocks noGrp="1"/>
          </p:cNvSpPr>
          <p:nvPr/>
        </p:nvSpPr>
        <p:spPr>
          <a:xfrm>
            <a:off x="9229725" y="5562600"/>
            <a:ext cx="323850" cy="323850"/>
          </a:xfrm>
          <a:prstGeom prst="ellipse">
            <a:avLst/>
          </a:prstGeom>
          <a:solidFill>
            <a:srgbClr val="C45A4A"/>
          </a:solidFill>
          <a:ln w="0">
            <a:solidFill>
              <a:srgbClr val="C45A4A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8D63EAB-744A-4180-AC70-5DD0E95217BE}"/>
              </a:ext>
            </a:extLst>
          </p:cNvPr>
          <p:cNvSpPr>
            <a:spLocks noGrp="1"/>
          </p:cNvSpPr>
          <p:nvPr/>
        </p:nvSpPr>
        <p:spPr>
          <a:xfrm>
            <a:off x="9229725" y="5581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8A910A2-69C4-4EC1-8DA0-83498E950D5D}"/>
              </a:ext>
            </a:extLst>
          </p:cNvPr>
          <p:cNvSpPr>
            <a:spLocks noGrp="1"/>
          </p:cNvSpPr>
          <p:nvPr/>
        </p:nvSpPr>
        <p:spPr>
          <a:xfrm>
            <a:off x="9648825" y="55530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Bounded authority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74178B8-9485-4786-9E20-D24C625E9BED}"/>
              </a:ext>
            </a:extLst>
          </p:cNvPr>
          <p:cNvSpPr>
            <a:spLocks noGrp="1"/>
          </p:cNvSpPr>
          <p:nvPr/>
        </p:nvSpPr>
        <p:spPr>
          <a:xfrm>
            <a:off x="9648825" y="5886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abstention and fallback</a:t>
            </a:r>
          </a:p>
          <a:p>
            <a:pPr algn="l">
              <a:buNone/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hard safety gate</a:t>
            </a:r>
          </a:p>
        </p:txBody>
      </p:sp>
      <p:cxnSp>
        <p:nvCxnSpPr>
          <p:cNvPr id="280" name="直接箭头连接符 279"/>
          <p:cNvCxnSpPr>
            <a:stCxn id="77" idx="1"/>
            <a:endCxn id="72" idx="3"/>
          </p:cNvCxnSpPr>
          <p:nvPr/>
        </p:nvCxnSpPr>
        <p:spPr>
          <a:xfrm flipH="1">
            <a:off x="2914650" y="5962650"/>
            <a:ext cx="428625" cy="0"/>
          </a:xfrm>
          <a:prstGeom prst="straightConnector1">
            <a:avLst/>
          </a:prstGeom>
          <a:ln w="2286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281" name="直接箭头连接符 280"/>
          <p:cNvCxnSpPr>
            <a:stCxn id="82" idx="1"/>
            <a:endCxn id="77" idx="3"/>
          </p:cNvCxnSpPr>
          <p:nvPr/>
        </p:nvCxnSpPr>
        <p:spPr>
          <a:xfrm flipH="1">
            <a:off x="5800725" y="5962650"/>
            <a:ext cx="428625" cy="0"/>
          </a:xfrm>
          <a:prstGeom prst="straightConnector1">
            <a:avLst/>
          </a:prstGeom>
          <a:ln w="2286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282" name="直接箭头连接符 281"/>
          <p:cNvCxnSpPr>
            <a:stCxn id="87" idx="1"/>
            <a:endCxn id="82" idx="3"/>
          </p:cNvCxnSpPr>
          <p:nvPr/>
        </p:nvCxnSpPr>
        <p:spPr>
          <a:xfrm flipH="1">
            <a:off x="8686800" y="5962650"/>
            <a:ext cx="428625" cy="0"/>
          </a:xfrm>
          <a:prstGeom prst="straightConnector1">
            <a:avLst/>
          </a:prstGeom>
          <a:ln w="22860">
            <a:solidFill>
              <a:srgbClr val="18324A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13995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椭圆 75">
            <a:extLst>
              <a:ext uri="{FF2B5EF4-FFF2-40B4-BE49-F238E27FC236}">
                <a16:creationId xmlns:a16="http://schemas.microsoft.com/office/drawing/2014/main" id="{3D8B8240-F4D1-4511-9718-2D9029F8A06F}"/>
              </a:ext>
            </a:extLst>
          </p:cNvPr>
          <p:cNvSpPr>
            <a:spLocks noGrp="1"/>
          </p:cNvSpPr>
          <p:nvPr/>
        </p:nvSpPr>
        <p:spPr>
          <a:xfrm>
            <a:off x="266700" y="142875"/>
            <a:ext cx="323850" cy="323850"/>
          </a:xfrm>
          <a:prstGeom prst="ellipse">
            <a:avLst/>
          </a:prstGeom>
          <a:solidFill>
            <a:srgbClr val="18324A"/>
          </a:solidFill>
          <a:ln w="0">
            <a:solidFill>
              <a:srgbClr val="18324A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2604FB-FD44-4833-AA22-1C6A8AD24136}"/>
              </a:ext>
            </a:extLst>
          </p:cNvPr>
          <p:cNvSpPr>
            <a:spLocks noGrp="1"/>
          </p:cNvSpPr>
          <p:nvPr/>
        </p:nvSpPr>
        <p:spPr>
          <a:xfrm>
            <a:off x="266700" y="12564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C8B6D0-EB14-4362-9CB5-14EF472F0009}"/>
              </a:ext>
            </a:extLst>
          </p:cNvPr>
          <p:cNvSpPr>
            <a:spLocks noGrp="1"/>
          </p:cNvSpPr>
          <p:nvPr/>
        </p:nvSpPr>
        <p:spPr>
          <a:xfrm>
            <a:off x="723900" y="1333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8324A"/>
                </a:solidFill>
              </a:defRPr>
            </a:pPr>
            <a:r>
              <a:rPr sz="2000" b="1">
                <a:solidFill>
                  <a:srgbClr val="18324A"/>
                </a:solidFill>
              </a:rPr>
              <a:t>Physics-aware graph-state backbone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C164470-A403-40CD-B2B3-651B0620D0AC}"/>
              </a:ext>
            </a:extLst>
          </p:cNvPr>
          <p:cNvSpPr>
            <a:spLocks noGrp="1"/>
          </p:cNvSpPr>
          <p:nvPr/>
        </p:nvSpPr>
        <p:spPr>
          <a:xfrm>
            <a:off x="523875" y="600074"/>
            <a:ext cx="2095500" cy="552450"/>
          </a:xfrm>
          <a:prstGeom prst="roundRect">
            <a:avLst>
              <a:gd name="adj" fmla="val 6897"/>
            </a:avLst>
          </a:prstGeom>
          <a:solidFill>
            <a:srgbClr val="EAF1F7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AEAED8-46F7-48EE-9757-8D3F0CB2F597}"/>
              </a:ext>
            </a:extLst>
          </p:cNvPr>
          <p:cNvSpPr>
            <a:spLocks noGrp="1"/>
          </p:cNvSpPr>
          <p:nvPr/>
        </p:nvSpPr>
        <p:spPr>
          <a:xfrm>
            <a:off x="600075" y="76200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324A"/>
                </a:solidFill>
              </a:defRPr>
            </a:pPr>
            <a:r>
              <a:rPr sz="1600" b="1">
                <a:solidFill>
                  <a:srgbClr val="18324A"/>
                </a:solidFill>
              </a:rPr>
              <a:t>Graph-state inputs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7ECDA-633F-4427-BA5F-B06221E9F53A}"/>
              </a:ext>
            </a:extLst>
          </p:cNvPr>
          <p:cNvSpPr>
            <a:spLocks noGrp="1"/>
          </p:cNvSpPr>
          <p:nvPr/>
        </p:nvSpPr>
        <p:spPr>
          <a:xfrm>
            <a:off x="290513" y="1352550"/>
            <a:ext cx="255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B87"/>
                </a:solidFill>
              </a:defRPr>
            </a:pPr>
            <a:r>
              <a:rPr sz="1100" b="0">
                <a:solidFill>
                  <a:srgbClr val="6E7B87"/>
                </a:solidFill>
              </a:rPr>
              <a:t>dynamic: occupancy | AGV | SOC | jobs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11BFDC-5733-4738-957B-FB40B81533EB}"/>
              </a:ext>
            </a:extLst>
          </p:cNvPr>
          <p:cNvSpPr>
            <a:spLocks noGrp="1"/>
          </p:cNvSpPr>
          <p:nvPr/>
        </p:nvSpPr>
        <p:spPr>
          <a:xfrm>
            <a:off x="357187" y="1709736"/>
            <a:ext cx="2428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B87"/>
                </a:solidFill>
              </a:defRPr>
            </a:pPr>
            <a:r>
              <a:rPr sz="1100" b="0">
                <a:solidFill>
                  <a:srgbClr val="6E7B87"/>
                </a:solidFill>
              </a:rPr>
              <a:t>static: geometry | distance | capacity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02E552-4421-4474-B9A1-39D8A478F0C7}"/>
              </a:ext>
            </a:extLst>
          </p:cNvPr>
          <p:cNvSpPr>
            <a:spLocks noGrp="1"/>
          </p:cNvSpPr>
          <p:nvPr/>
        </p:nvSpPr>
        <p:spPr>
          <a:xfrm>
            <a:off x="3314700" y="600074"/>
            <a:ext cx="2133600" cy="931182"/>
          </a:xfrm>
          <a:prstGeom prst="roundRect">
            <a:avLst>
              <a:gd name="adj" fmla="val 4651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A4564-D5C6-45C7-97A5-9E9C651EA5CD}"/>
              </a:ext>
            </a:extLst>
          </p:cNvPr>
          <p:cNvSpPr>
            <a:spLocks noGrp="1"/>
          </p:cNvSpPr>
          <p:nvPr/>
        </p:nvSpPr>
        <p:spPr>
          <a:xfrm>
            <a:off x="3390900" y="723900"/>
            <a:ext cx="19812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324A"/>
                </a:solidFill>
              </a:defRPr>
            </a:pPr>
            <a:r>
              <a:rPr sz="1600" b="1">
                <a:solidFill>
                  <a:srgbClr val="18324A"/>
                </a:solidFill>
              </a:rPr>
              <a:t>Edge-conditioned</a:t>
            </a:r>
          </a:p>
          <a:p>
            <a:pPr algn="ctr">
              <a:buNone/>
              <a:defRPr sz="1425" b="1">
                <a:solidFill>
                  <a:srgbClr val="18324A"/>
                </a:solidFill>
              </a:defRPr>
            </a:pPr>
            <a:r>
              <a:rPr sz="1600" b="1">
                <a:solidFill>
                  <a:srgbClr val="18324A"/>
                </a:solidFill>
              </a:rPr>
              <a:t>graph attention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8A87334-5015-433E-8DED-C4D9586795B8}"/>
              </a:ext>
            </a:extLst>
          </p:cNvPr>
          <p:cNvSpPr>
            <a:spLocks noGrp="1"/>
          </p:cNvSpPr>
          <p:nvPr/>
        </p:nvSpPr>
        <p:spPr>
          <a:xfrm>
            <a:off x="6191250" y="600074"/>
            <a:ext cx="2619375" cy="1200150"/>
          </a:xfrm>
          <a:prstGeom prst="roundRect">
            <a:avLst>
              <a:gd name="adj" fmla="val 3175"/>
            </a:avLst>
          </a:prstGeom>
          <a:solidFill>
            <a:srgbClr val="FAF0E5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263718-B982-4B60-952D-93256F85FD56}"/>
              </a:ext>
            </a:extLst>
          </p:cNvPr>
          <p:cNvSpPr>
            <a:spLocks noGrp="1"/>
          </p:cNvSpPr>
          <p:nvPr/>
        </p:nvSpPr>
        <p:spPr>
          <a:xfrm>
            <a:off x="6372225" y="723900"/>
            <a:ext cx="22574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Residual rollout steps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A7CCDB9-654A-4575-8542-E6A6518E7CE9}"/>
              </a:ext>
            </a:extLst>
          </p:cNvPr>
          <p:cNvSpPr>
            <a:spLocks noGrp="1"/>
          </p:cNvSpPr>
          <p:nvPr/>
        </p:nvSpPr>
        <p:spPr>
          <a:xfrm>
            <a:off x="6410325" y="1143000"/>
            <a:ext cx="6286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77369E-DF48-464C-AF05-CBA0D0F6BC66}"/>
              </a:ext>
            </a:extLst>
          </p:cNvPr>
          <p:cNvSpPr>
            <a:spLocks noGrp="1"/>
          </p:cNvSpPr>
          <p:nvPr/>
        </p:nvSpPr>
        <p:spPr>
          <a:xfrm>
            <a:off x="6486525" y="11906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100" b="1">
                <a:solidFill>
                  <a:srgbClr val="D4863B"/>
                </a:solidFill>
              </a:rPr>
              <a:t>t + 1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B6F558-9242-47EF-8415-8384AED0E67B}"/>
              </a:ext>
            </a:extLst>
          </p:cNvPr>
          <p:cNvSpPr>
            <a:spLocks noGrp="1"/>
          </p:cNvSpPr>
          <p:nvPr/>
        </p:nvSpPr>
        <p:spPr>
          <a:xfrm>
            <a:off x="7191375" y="1143000"/>
            <a:ext cx="6286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DF82DC-A992-4883-98D7-A724CFAACD1A}"/>
              </a:ext>
            </a:extLst>
          </p:cNvPr>
          <p:cNvSpPr>
            <a:spLocks noGrp="1"/>
          </p:cNvSpPr>
          <p:nvPr/>
        </p:nvSpPr>
        <p:spPr>
          <a:xfrm>
            <a:off x="7267575" y="11906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100" b="1">
                <a:solidFill>
                  <a:srgbClr val="D4863B"/>
                </a:solidFill>
              </a:rPr>
              <a:t>t + 5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2A92ABA-F49B-47F6-AC16-1EBC853A1C9E}"/>
              </a:ext>
            </a:extLst>
          </p:cNvPr>
          <p:cNvSpPr>
            <a:spLocks noGrp="1"/>
          </p:cNvSpPr>
          <p:nvPr/>
        </p:nvSpPr>
        <p:spPr>
          <a:xfrm>
            <a:off x="7972425" y="1143000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227FF1-73F7-4C86-BEBE-01DC463AFF5D}"/>
              </a:ext>
            </a:extLst>
          </p:cNvPr>
          <p:cNvSpPr>
            <a:spLocks noGrp="1"/>
          </p:cNvSpPr>
          <p:nvPr/>
        </p:nvSpPr>
        <p:spPr>
          <a:xfrm>
            <a:off x="8048625" y="119062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100" b="1">
                <a:solidFill>
                  <a:srgbClr val="D4863B"/>
                </a:solidFill>
              </a:rPr>
              <a:t>t + 10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D70A18-56C7-4E69-A830-D331A0F04385}"/>
              </a:ext>
            </a:extLst>
          </p:cNvPr>
          <p:cNvSpPr>
            <a:spLocks noGrp="1"/>
          </p:cNvSpPr>
          <p:nvPr/>
        </p:nvSpPr>
        <p:spPr>
          <a:xfrm>
            <a:off x="9525000" y="600074"/>
            <a:ext cx="2143125" cy="1409700"/>
          </a:xfrm>
          <a:prstGeom prst="roundRect">
            <a:avLst>
              <a:gd name="adj" fmla="val 2532"/>
            </a:avLst>
          </a:prstGeom>
          <a:solidFill>
            <a:srgbClr val="F3F5F7"/>
          </a:solidFill>
          <a:ln w="14288">
            <a:solidFill>
              <a:srgbClr val="6E7B8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02751C-F7CE-4AC3-BE89-D05D9134908C}"/>
              </a:ext>
            </a:extLst>
          </p:cNvPr>
          <p:cNvSpPr>
            <a:spLocks noGrp="1"/>
          </p:cNvSpPr>
          <p:nvPr/>
        </p:nvSpPr>
        <p:spPr>
          <a:xfrm>
            <a:off x="9696450" y="6477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Prediction heads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AA0AC5-6EFA-4342-8B14-E90E364E1881}"/>
              </a:ext>
            </a:extLst>
          </p:cNvPr>
          <p:cNvSpPr>
            <a:spLocks noGrp="1"/>
          </p:cNvSpPr>
          <p:nvPr/>
        </p:nvSpPr>
        <p:spPr>
          <a:xfrm>
            <a:off x="9772650" y="952500"/>
            <a:ext cx="1657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43746"/>
                </a:solidFill>
              </a:defRPr>
            </a:pPr>
            <a:r>
              <a:rPr sz="1400" b="0">
                <a:solidFill>
                  <a:srgbClr val="243746"/>
                </a:solidFill>
              </a:rPr>
              <a:t>state transition</a:t>
            </a:r>
          </a:p>
          <a:p>
            <a:pPr algn="ctr">
              <a:buNone/>
              <a:defRPr sz="1125" b="0">
                <a:solidFill>
                  <a:srgbClr val="243746"/>
                </a:solidFill>
              </a:defRPr>
            </a:pPr>
            <a:r>
              <a:rPr sz="1400" b="0">
                <a:solidFill>
                  <a:srgbClr val="243746"/>
                </a:solidFill>
              </a:rPr>
              <a:t>time + energy</a:t>
            </a:r>
          </a:p>
          <a:p>
            <a:pPr algn="ctr">
              <a:buNone/>
              <a:defRPr sz="1125" b="0">
                <a:solidFill>
                  <a:srgbClr val="243746"/>
                </a:solidFill>
              </a:defRPr>
            </a:pPr>
            <a:r>
              <a:rPr sz="1400" b="0">
                <a:solidFill>
                  <a:srgbClr val="243746"/>
                </a:solidFill>
              </a:rPr>
              <a:t>tasks + queue</a:t>
            </a:r>
          </a:p>
          <a:p>
            <a:pPr algn="ctr">
              <a:buNone/>
              <a:defRPr sz="1125" b="0">
                <a:solidFill>
                  <a:srgbClr val="243746"/>
                </a:solidFill>
              </a:defRPr>
            </a:pPr>
            <a:r>
              <a:rPr sz="1400" b="0">
                <a:solidFill>
                  <a:srgbClr val="243746"/>
                </a:solidFill>
              </a:rPr>
              <a:t>future charge risk</a:t>
            </a:r>
          </a:p>
        </p:txBody>
      </p:sp>
      <p:cxnSp>
        <p:nvCxnSpPr>
          <p:cNvPr id="169" name="直接箭头连接符 168"/>
          <p:cNvCxnSpPr>
            <a:cxnSpLocks/>
          </p:cNvCxnSpPr>
          <p:nvPr/>
        </p:nvCxnSpPr>
        <p:spPr>
          <a:xfrm flipH="1" flipV="1">
            <a:off x="2609850" y="879475"/>
            <a:ext cx="695325" cy="0"/>
          </a:xfrm>
          <a:prstGeom prst="straightConnector1">
            <a:avLst/>
          </a:prstGeom>
          <a:ln w="26670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70" name="直接箭头连接符 169"/>
          <p:cNvCxnSpPr>
            <a:cxnSpLocks/>
          </p:cNvCxnSpPr>
          <p:nvPr/>
        </p:nvCxnSpPr>
        <p:spPr>
          <a:xfrm flipH="1" flipV="1">
            <a:off x="5448300" y="1069975"/>
            <a:ext cx="742950" cy="0"/>
          </a:xfrm>
          <a:prstGeom prst="straightConnector1">
            <a:avLst/>
          </a:prstGeom>
          <a:ln w="26670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71" name="直接箭头连接符 170"/>
          <p:cNvCxnSpPr>
            <a:cxnSpLocks/>
          </p:cNvCxnSpPr>
          <p:nvPr/>
        </p:nvCxnSpPr>
        <p:spPr>
          <a:xfrm flipH="1" flipV="1">
            <a:off x="8810625" y="1190625"/>
            <a:ext cx="714375" cy="0"/>
          </a:xfrm>
          <a:prstGeom prst="straightConnector1">
            <a:avLst/>
          </a:prstGeom>
          <a:ln w="26670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078FE7D-E179-4617-A044-35A846F74019}"/>
              </a:ext>
            </a:extLst>
          </p:cNvPr>
          <p:cNvSpPr>
            <a:spLocks noGrp="1"/>
          </p:cNvSpPr>
          <p:nvPr/>
        </p:nvSpPr>
        <p:spPr>
          <a:xfrm>
            <a:off x="3529012" y="1724026"/>
            <a:ext cx="1704975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2A8C82"/>
                </a:solidFill>
              </a:defRPr>
            </a:pPr>
            <a:r>
              <a:rPr sz="1000" b="1">
                <a:solidFill>
                  <a:srgbClr val="2A8C82"/>
                </a:solidFill>
              </a:rPr>
              <a:t>graph structure retained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95253A5-706B-49CE-9984-E37F4B1A87B6}"/>
              </a:ext>
            </a:extLst>
          </p:cNvPr>
          <p:cNvSpPr>
            <a:spLocks noGrp="1"/>
          </p:cNvSpPr>
          <p:nvPr/>
        </p:nvSpPr>
        <p:spPr>
          <a:xfrm>
            <a:off x="266700" y="2209800"/>
            <a:ext cx="11658600" cy="0"/>
          </a:xfrm>
          <a:prstGeom prst="line">
            <a:avLst/>
          </a:prstGeom>
          <a:noFill/>
          <a:ln w="11430">
            <a:solidFill>
              <a:srgbClr val="CAD3DB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59F2EB7-9BD4-4B4F-B353-08DEAFFFB831}"/>
              </a:ext>
            </a:extLst>
          </p:cNvPr>
          <p:cNvSpPr>
            <a:spLocks noGrp="1"/>
          </p:cNvSpPr>
          <p:nvPr/>
        </p:nvSpPr>
        <p:spPr>
          <a:xfrm>
            <a:off x="266700" y="2352675"/>
            <a:ext cx="323850" cy="323850"/>
          </a:xfrm>
          <a:prstGeom prst="ellipse">
            <a:avLst/>
          </a:prstGeom>
          <a:solidFill>
            <a:srgbClr val="18324A"/>
          </a:solidFill>
          <a:ln w="0">
            <a:solidFill>
              <a:srgbClr val="18324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8722A2-C9A6-4016-8FF9-EA10187BB3E5}"/>
              </a:ext>
            </a:extLst>
          </p:cNvPr>
          <p:cNvSpPr>
            <a:spLocks noGrp="1"/>
          </p:cNvSpPr>
          <p:nvPr/>
        </p:nvSpPr>
        <p:spPr>
          <a:xfrm>
            <a:off x="266700" y="23717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CD39BC-2EA6-4E51-8D06-16E28F769866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8324A"/>
                </a:solidFill>
              </a:defRPr>
            </a:pPr>
            <a:r>
              <a:rPr sz="2000" b="1">
                <a:solidFill>
                  <a:srgbClr val="18324A"/>
                </a:solidFill>
              </a:rPr>
              <a:t>Frozen paired counterfactual inference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DB15BC-4DD3-4395-94EB-30D72B435C62}"/>
              </a:ext>
            </a:extLst>
          </p:cNvPr>
          <p:cNvSpPr>
            <a:spLocks noGrp="1"/>
          </p:cNvSpPr>
          <p:nvPr/>
        </p:nvSpPr>
        <p:spPr>
          <a:xfrm>
            <a:off x="476250" y="3143250"/>
            <a:ext cx="1600200" cy="781050"/>
          </a:xfrm>
          <a:prstGeom prst="roundRect">
            <a:avLst>
              <a:gd name="adj" fmla="val 4878"/>
            </a:avLst>
          </a:prstGeom>
          <a:solidFill>
            <a:srgbClr val="EAF1F7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1756B1-B211-480E-972A-A45528FE7A9F}"/>
              </a:ext>
            </a:extLst>
          </p:cNvPr>
          <p:cNvSpPr>
            <a:spLocks noGrp="1"/>
          </p:cNvSpPr>
          <p:nvPr/>
        </p:nvSpPr>
        <p:spPr>
          <a:xfrm>
            <a:off x="552450" y="3190875"/>
            <a:ext cx="1447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Source state</a:t>
            </a:r>
          </a:p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+ frozen arrivals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DF6C4A9-BE18-47BD-A073-1D64BDC21824}"/>
              </a:ext>
            </a:extLst>
          </p:cNvPr>
          <p:cNvSpPr>
            <a:spLocks noGrp="1"/>
          </p:cNvSpPr>
          <p:nvPr/>
        </p:nvSpPr>
        <p:spPr>
          <a:xfrm>
            <a:off x="2667000" y="2781300"/>
            <a:ext cx="17907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ADD87E-72F3-4FF1-94BF-BE3FCA1D7D5B}"/>
              </a:ext>
            </a:extLst>
          </p:cNvPr>
          <p:cNvSpPr>
            <a:spLocks noGrp="1"/>
          </p:cNvSpPr>
          <p:nvPr/>
        </p:nvSpPr>
        <p:spPr>
          <a:xfrm>
            <a:off x="2743200" y="2828925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B6EA8"/>
                </a:solidFill>
              </a:defRPr>
            </a:pPr>
            <a:r>
              <a:rPr sz="1400" b="1">
                <a:solidFill>
                  <a:srgbClr val="3B6EA8"/>
                </a:solidFill>
              </a:rPr>
              <a:t>Baseline action A0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7B9E60F-8322-422A-B44B-0DF1A69B81CB}"/>
              </a:ext>
            </a:extLst>
          </p:cNvPr>
          <p:cNvSpPr>
            <a:spLocks noGrp="1"/>
          </p:cNvSpPr>
          <p:nvPr/>
        </p:nvSpPr>
        <p:spPr>
          <a:xfrm>
            <a:off x="2667000" y="3838575"/>
            <a:ext cx="17907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153EE7C-F130-4B7E-A87A-9F2D341E3F4D}"/>
              </a:ext>
            </a:extLst>
          </p:cNvPr>
          <p:cNvSpPr>
            <a:spLocks noGrp="1"/>
          </p:cNvSpPr>
          <p:nvPr/>
        </p:nvSpPr>
        <p:spPr>
          <a:xfrm>
            <a:off x="2667000" y="388620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A8C82"/>
                </a:solidFill>
              </a:defRPr>
            </a:pPr>
            <a:r>
              <a:rPr sz="1400" b="1">
                <a:solidFill>
                  <a:srgbClr val="2A8C82"/>
                </a:solidFill>
              </a:rPr>
              <a:t>Candidate action Ac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3EEBEDF-5147-4671-A329-C56F36756B60}"/>
              </a:ext>
            </a:extLst>
          </p:cNvPr>
          <p:cNvSpPr>
            <a:spLocks noGrp="1"/>
          </p:cNvSpPr>
          <p:nvPr/>
        </p:nvSpPr>
        <p:spPr>
          <a:xfrm>
            <a:off x="5095875" y="2638425"/>
            <a:ext cx="2190750" cy="742950"/>
          </a:xfrm>
          <a:prstGeom prst="roundRect">
            <a:avLst>
              <a:gd name="adj" fmla="val 5128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F46124-A947-4A05-92B0-42C1124D873B}"/>
              </a:ext>
            </a:extLst>
          </p:cNvPr>
          <p:cNvSpPr>
            <a:spLocks noGrp="1"/>
          </p:cNvSpPr>
          <p:nvPr/>
        </p:nvSpPr>
        <p:spPr>
          <a:xfrm>
            <a:off x="5172075" y="2686050"/>
            <a:ext cx="2038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Frozen pretrained</a:t>
            </a:r>
          </a:p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physics-graph backbone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C5D0896-72C9-4D1D-8F98-4ACD28E6B54C}"/>
              </a:ext>
            </a:extLst>
          </p:cNvPr>
          <p:cNvSpPr>
            <a:spLocks noGrp="1"/>
          </p:cNvSpPr>
          <p:nvPr/>
        </p:nvSpPr>
        <p:spPr>
          <a:xfrm>
            <a:off x="5095875" y="3695700"/>
            <a:ext cx="2190750" cy="742950"/>
          </a:xfrm>
          <a:prstGeom prst="roundRect">
            <a:avLst>
              <a:gd name="adj" fmla="val 5128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90160E5-4B2F-4705-B7B7-C4DFF18D72D7}"/>
              </a:ext>
            </a:extLst>
          </p:cNvPr>
          <p:cNvSpPr>
            <a:spLocks noGrp="1"/>
          </p:cNvSpPr>
          <p:nvPr/>
        </p:nvSpPr>
        <p:spPr>
          <a:xfrm>
            <a:off x="5172075" y="3743325"/>
            <a:ext cx="2038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Frozen pretrained</a:t>
            </a:r>
          </a:p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physics-graph backbone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9353E2-EC3E-4800-885D-9C2BFF477F83}"/>
              </a:ext>
            </a:extLst>
          </p:cNvPr>
          <p:cNvSpPr>
            <a:spLocks noGrp="1"/>
          </p:cNvSpPr>
          <p:nvPr/>
        </p:nvSpPr>
        <p:spPr>
          <a:xfrm>
            <a:off x="4762500" y="3419475"/>
            <a:ext cx="2571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2A8C82"/>
                </a:solidFill>
              </a:defRPr>
            </a:pPr>
            <a:r>
              <a:rPr sz="1100" b="1">
                <a:solidFill>
                  <a:srgbClr val="2A8C82"/>
                </a:solidFill>
              </a:rPr>
              <a:t>shared weights | 336,748 parameters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5565F2D-EB14-423A-B389-0598B45688DD}"/>
              </a:ext>
            </a:extLst>
          </p:cNvPr>
          <p:cNvSpPr>
            <a:spLocks noGrp="1"/>
          </p:cNvSpPr>
          <p:nvPr/>
        </p:nvSpPr>
        <p:spPr>
          <a:xfrm>
            <a:off x="7905750" y="3105150"/>
            <a:ext cx="1809750" cy="781050"/>
          </a:xfrm>
          <a:prstGeom prst="roundRect">
            <a:avLst>
              <a:gd name="adj" fmla="val 4878"/>
            </a:avLst>
          </a:prstGeom>
          <a:solidFill>
            <a:srgbClr val="FAF0E5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816354F-4E3B-41D0-8698-A253B1959ACF}"/>
              </a:ext>
            </a:extLst>
          </p:cNvPr>
          <p:cNvSpPr>
            <a:spLocks noGrp="1"/>
          </p:cNvSpPr>
          <p:nvPr/>
        </p:nvSpPr>
        <p:spPr>
          <a:xfrm>
            <a:off x="7981950" y="3152775"/>
            <a:ext cx="165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Paired effect</a:t>
            </a:r>
          </a:p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(candidate - baseline)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6D9F6B0-EC99-48C8-9D19-881158B9A059}"/>
              </a:ext>
            </a:extLst>
          </p:cNvPr>
          <p:cNvSpPr>
            <a:spLocks noGrp="1"/>
          </p:cNvSpPr>
          <p:nvPr/>
        </p:nvSpPr>
        <p:spPr>
          <a:xfrm>
            <a:off x="10191750" y="3009900"/>
            <a:ext cx="1666875" cy="971550"/>
          </a:xfrm>
          <a:prstGeom prst="roundRect">
            <a:avLst>
              <a:gd name="adj" fmla="val 3922"/>
            </a:avLst>
          </a:prstGeom>
          <a:solidFill>
            <a:srgbClr val="F9EDEC"/>
          </a:solidFill>
          <a:ln w="14288">
            <a:solidFill>
              <a:srgbClr val="C45A4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461B854-3444-4714-A0AD-6BD91E8047D6}"/>
              </a:ext>
            </a:extLst>
          </p:cNvPr>
          <p:cNvSpPr>
            <a:spLocks noGrp="1"/>
          </p:cNvSpPr>
          <p:nvPr/>
        </p:nvSpPr>
        <p:spPr>
          <a:xfrm>
            <a:off x="10267950" y="3057525"/>
            <a:ext cx="15144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Trainable shared MLP head</a:t>
            </a:r>
          </a:p>
          <a:p>
            <a:pPr algn="ctr">
              <a:buNone/>
              <a:defRPr sz="1200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56,457 parameters</a:t>
            </a:r>
          </a:p>
        </p:txBody>
      </p:sp>
      <p:cxnSp>
        <p:nvCxnSpPr>
          <p:cNvPr id="192" name="直接箭头连接符 191"/>
          <p:cNvCxnSpPr>
            <a:stCxn id="31" idx="1"/>
            <a:endCxn id="29" idx="3"/>
          </p:cNvCxnSpPr>
          <p:nvPr/>
        </p:nvCxnSpPr>
        <p:spPr>
          <a:xfrm flipH="1">
            <a:off x="2076450" y="3009900"/>
            <a:ext cx="590550" cy="523875"/>
          </a:xfrm>
          <a:prstGeom prst="straightConnector1">
            <a:avLst/>
          </a:prstGeom>
          <a:ln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93" name="直接箭头连接符 192"/>
          <p:cNvCxnSpPr>
            <a:stCxn id="33" idx="1"/>
            <a:endCxn id="29" idx="3"/>
          </p:cNvCxnSpPr>
          <p:nvPr/>
        </p:nvCxnSpPr>
        <p:spPr>
          <a:xfrm flipH="1" flipV="1">
            <a:off x="2076450" y="3533775"/>
            <a:ext cx="590550" cy="533400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94" name="直接箭头连接符 193"/>
          <p:cNvCxnSpPr>
            <a:stCxn id="35" idx="1"/>
            <a:endCxn id="31" idx="3"/>
          </p:cNvCxnSpPr>
          <p:nvPr/>
        </p:nvCxnSpPr>
        <p:spPr>
          <a:xfrm flipH="1">
            <a:off x="4457700" y="3009900"/>
            <a:ext cx="638175" cy="0"/>
          </a:xfrm>
          <a:prstGeom prst="straightConnector1">
            <a:avLst/>
          </a:prstGeom>
          <a:ln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95" name="直接箭头连接符 194"/>
          <p:cNvCxnSpPr>
            <a:stCxn id="37" idx="1"/>
            <a:endCxn id="33" idx="3"/>
          </p:cNvCxnSpPr>
          <p:nvPr/>
        </p:nvCxnSpPr>
        <p:spPr>
          <a:xfrm flipH="1">
            <a:off x="4457700" y="4067175"/>
            <a:ext cx="638175" cy="0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96" name="直接箭头连接符 195"/>
          <p:cNvCxnSpPr>
            <a:stCxn id="40" idx="1"/>
            <a:endCxn id="35" idx="3"/>
          </p:cNvCxnSpPr>
          <p:nvPr/>
        </p:nvCxnSpPr>
        <p:spPr>
          <a:xfrm flipH="1" flipV="1">
            <a:off x="7286625" y="3009900"/>
            <a:ext cx="619125" cy="485775"/>
          </a:xfrm>
          <a:prstGeom prst="straightConnector1">
            <a:avLst/>
          </a:prstGeom>
          <a:ln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97" name="直接箭头连接符 196"/>
          <p:cNvCxnSpPr>
            <a:stCxn id="40" idx="1"/>
            <a:endCxn id="37" idx="3"/>
          </p:cNvCxnSpPr>
          <p:nvPr/>
        </p:nvCxnSpPr>
        <p:spPr>
          <a:xfrm flipH="1">
            <a:off x="7286625" y="3495675"/>
            <a:ext cx="619125" cy="571500"/>
          </a:xfrm>
          <a:prstGeom prst="straightConnector1">
            <a:avLst/>
          </a:prstGeom>
          <a:ln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98" name="直接箭头连接符 197"/>
          <p:cNvCxnSpPr>
            <a:stCxn id="42" idx="1"/>
            <a:endCxn id="40" idx="3"/>
          </p:cNvCxnSpPr>
          <p:nvPr/>
        </p:nvCxnSpPr>
        <p:spPr>
          <a:xfrm flipH="1">
            <a:off x="9715500" y="3495675"/>
            <a:ext cx="476250" cy="0"/>
          </a:xfrm>
          <a:prstGeom prst="straightConnector1">
            <a:avLst/>
          </a:prstGeom>
          <a:ln w="23813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7BD20D1E-7D08-4F0B-9845-697ECA97A7BE}"/>
              </a:ext>
            </a:extLst>
          </p:cNvPr>
          <p:cNvSpPr>
            <a:spLocks noGrp="1"/>
          </p:cNvSpPr>
          <p:nvPr/>
        </p:nvSpPr>
        <p:spPr>
          <a:xfrm>
            <a:off x="7848600" y="409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B87"/>
                </a:solidFill>
              </a:defRPr>
            </a:pPr>
            <a:r>
              <a:rPr sz="1100" b="0">
                <a:solidFill>
                  <a:srgbClr val="6E7B87"/>
                </a:solidFill>
              </a:rPr>
              <a:t>decision targets at fixed physical horizons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C92BFA2-236E-48A3-B2F8-9220FC352640}"/>
              </a:ext>
            </a:extLst>
          </p:cNvPr>
          <p:cNvSpPr>
            <a:spLocks noGrp="1"/>
          </p:cNvSpPr>
          <p:nvPr/>
        </p:nvSpPr>
        <p:spPr>
          <a:xfrm>
            <a:off x="8086725" y="4438650"/>
            <a:ext cx="8763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3E69853-1CF3-4FDE-96CE-9DB6A25F6011}"/>
              </a:ext>
            </a:extLst>
          </p:cNvPr>
          <p:cNvSpPr>
            <a:spLocks noGrp="1"/>
          </p:cNvSpPr>
          <p:nvPr/>
        </p:nvSpPr>
        <p:spPr>
          <a:xfrm>
            <a:off x="8162925" y="44862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200" b="1">
                <a:solidFill>
                  <a:srgbClr val="D4863B"/>
                </a:solidFill>
              </a:rPr>
              <a:t>120 s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C0E35FF-D8B9-4120-86A1-70D9F3E185BE}"/>
              </a:ext>
            </a:extLst>
          </p:cNvPr>
          <p:cNvSpPr>
            <a:spLocks noGrp="1"/>
          </p:cNvSpPr>
          <p:nvPr/>
        </p:nvSpPr>
        <p:spPr>
          <a:xfrm>
            <a:off x="9144000" y="4438650"/>
            <a:ext cx="8763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B3CFBE6-2FF1-4A59-A97A-D38B3B5EF555}"/>
              </a:ext>
            </a:extLst>
          </p:cNvPr>
          <p:cNvSpPr>
            <a:spLocks noGrp="1"/>
          </p:cNvSpPr>
          <p:nvPr/>
        </p:nvSpPr>
        <p:spPr>
          <a:xfrm>
            <a:off x="9220200" y="44862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200" b="1">
                <a:solidFill>
                  <a:srgbClr val="D4863B"/>
                </a:solidFill>
              </a:rPr>
              <a:t>360 s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3C7C919-94CB-4016-8B77-AF609B6B1676}"/>
              </a:ext>
            </a:extLst>
          </p:cNvPr>
          <p:cNvSpPr>
            <a:spLocks noGrp="1"/>
          </p:cNvSpPr>
          <p:nvPr/>
        </p:nvSpPr>
        <p:spPr>
          <a:xfrm>
            <a:off x="10201275" y="4438650"/>
            <a:ext cx="8763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27130DB-E202-489F-B0F1-982F0BC37138}"/>
              </a:ext>
            </a:extLst>
          </p:cNvPr>
          <p:cNvSpPr>
            <a:spLocks noGrp="1"/>
          </p:cNvSpPr>
          <p:nvPr/>
        </p:nvSpPr>
        <p:spPr>
          <a:xfrm>
            <a:off x="10277475" y="44862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4863B"/>
                </a:solidFill>
              </a:defRPr>
            </a:pPr>
            <a:r>
              <a:rPr sz="1200" b="1">
                <a:solidFill>
                  <a:srgbClr val="D4863B"/>
                </a:solidFill>
              </a:rPr>
              <a:t>720 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16CF518-A037-4182-8FFD-EA87A7217E62}"/>
              </a:ext>
            </a:extLst>
          </p:cNvPr>
          <p:cNvSpPr>
            <a:spLocks noGrp="1"/>
          </p:cNvSpPr>
          <p:nvPr/>
        </p:nvSpPr>
        <p:spPr>
          <a:xfrm>
            <a:off x="7858125" y="4791075"/>
            <a:ext cx="3476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B87"/>
                </a:solidFill>
              </a:defRPr>
            </a:pPr>
            <a:r>
              <a:rPr sz="1100" b="0">
                <a:solidFill>
                  <a:srgbClr val="6E7B87"/>
                </a:solidFill>
              </a:rPr>
              <a:t>energy | completed tasks | charging-queue risk</a:t>
            </a:r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61B56DFF-908E-4F8C-A400-715246782AC8}"/>
              </a:ext>
            </a:extLst>
          </p:cNvPr>
          <p:cNvSpPr>
            <a:spLocks noGrp="1"/>
          </p:cNvSpPr>
          <p:nvPr/>
        </p:nvSpPr>
        <p:spPr>
          <a:xfrm>
            <a:off x="266700" y="5124450"/>
            <a:ext cx="11658600" cy="0"/>
          </a:xfrm>
          <a:prstGeom prst="line">
            <a:avLst/>
          </a:prstGeom>
          <a:noFill/>
          <a:ln w="11430">
            <a:solidFill>
              <a:srgbClr val="CAD3DB"/>
            </a:solidFill>
            <a:prstDash val="solid"/>
          </a:ln>
        </p:spPr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CEFF7CF0-85A8-43AC-A91C-CE6B47F0F1B2}"/>
              </a:ext>
            </a:extLst>
          </p:cNvPr>
          <p:cNvSpPr>
            <a:spLocks noGrp="1"/>
          </p:cNvSpPr>
          <p:nvPr/>
        </p:nvSpPr>
        <p:spPr>
          <a:xfrm>
            <a:off x="266700" y="5257800"/>
            <a:ext cx="323850" cy="323850"/>
          </a:xfrm>
          <a:prstGeom prst="ellipse">
            <a:avLst/>
          </a:prstGeom>
          <a:solidFill>
            <a:srgbClr val="18324A"/>
          </a:solidFill>
          <a:ln w="0">
            <a:solidFill>
              <a:srgbClr val="18324A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491B715-F05A-47C1-A9C3-45585AEA1F48}"/>
              </a:ext>
            </a:extLst>
          </p:cNvPr>
          <p:cNvSpPr>
            <a:spLocks noGrp="1"/>
          </p:cNvSpPr>
          <p:nvPr/>
        </p:nvSpPr>
        <p:spPr>
          <a:xfrm>
            <a:off x="266700" y="5255079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9C40BF8-6C28-4E44-81FF-968218DBA2C9}"/>
              </a:ext>
            </a:extLst>
          </p:cNvPr>
          <p:cNvSpPr>
            <a:spLocks noGrp="1"/>
          </p:cNvSpPr>
          <p:nvPr/>
        </p:nvSpPr>
        <p:spPr>
          <a:xfrm>
            <a:off x="723900" y="5248275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8324A"/>
                </a:solidFill>
              </a:defRPr>
            </a:pPr>
            <a:r>
              <a:rPr sz="2000" b="1">
                <a:solidFill>
                  <a:srgbClr val="18324A"/>
                </a:solidFill>
              </a:rPr>
              <a:t>Selective authority gate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9291B2F-7927-4DA8-B0AE-FAAD36634F19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1981200" cy="457200"/>
          </a:xfrm>
          <a:prstGeom prst="roundRect">
            <a:avLst>
              <a:gd name="adj" fmla="val 8333"/>
            </a:avLst>
          </a:prstGeom>
          <a:solidFill>
            <a:srgbClr val="EAF1F7"/>
          </a:solidFill>
          <a:ln w="14288">
            <a:solidFill>
              <a:srgbClr val="3B6EA8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4A3C22A-DFC0-4E1F-B54B-0C8C8531B352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Rank candidates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E2F2801-0F1B-4FE7-A9A4-F641E65C08D0}"/>
              </a:ext>
            </a:extLst>
          </p:cNvPr>
          <p:cNvSpPr>
            <a:spLocks noGrp="1"/>
          </p:cNvSpPr>
          <p:nvPr/>
        </p:nvSpPr>
        <p:spPr>
          <a:xfrm>
            <a:off x="3371850" y="5772150"/>
            <a:ext cx="1981200" cy="457200"/>
          </a:xfrm>
          <a:prstGeom prst="roundRect">
            <a:avLst>
              <a:gd name="adj" fmla="val 8333"/>
            </a:avLst>
          </a:prstGeom>
          <a:solidFill>
            <a:srgbClr val="E8F4F1"/>
          </a:solidFill>
          <a:ln w="14288">
            <a:solidFill>
              <a:srgbClr val="2A8C82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B951534-C2F0-4028-887F-5DE53A771D5B}"/>
              </a:ext>
            </a:extLst>
          </p:cNvPr>
          <p:cNvSpPr>
            <a:spLocks noGrp="1"/>
          </p:cNvSpPr>
          <p:nvPr/>
        </p:nvSpPr>
        <p:spPr>
          <a:xfrm>
            <a:off x="3448050" y="5819775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Agreement + margin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808568A-DA73-4F8E-A69A-3FD0DA570C3F}"/>
              </a:ext>
            </a:extLst>
          </p:cNvPr>
          <p:cNvSpPr>
            <a:spLocks noGrp="1"/>
          </p:cNvSpPr>
          <p:nvPr/>
        </p:nvSpPr>
        <p:spPr>
          <a:xfrm>
            <a:off x="6038850" y="5772150"/>
            <a:ext cx="1981200" cy="457200"/>
          </a:xfrm>
          <a:prstGeom prst="roundRect">
            <a:avLst>
              <a:gd name="adj" fmla="val 8333"/>
            </a:avLst>
          </a:prstGeom>
          <a:solidFill>
            <a:srgbClr val="FAF0E5"/>
          </a:solidFill>
          <a:ln w="14288">
            <a:solidFill>
              <a:srgbClr val="D486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D852FFE-DE42-4F8E-A0F6-A0ED968D4F36}"/>
              </a:ext>
            </a:extLst>
          </p:cNvPr>
          <p:cNvSpPr>
            <a:spLocks noGrp="1"/>
          </p:cNvSpPr>
          <p:nvPr/>
        </p:nvSpPr>
        <p:spPr>
          <a:xfrm>
            <a:off x="6038850" y="5819775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8324A"/>
                </a:solidFill>
              </a:defRPr>
            </a:pPr>
            <a:r>
              <a:rPr sz="1400" b="1">
                <a:solidFill>
                  <a:srgbClr val="18324A"/>
                </a:solidFill>
              </a:rPr>
              <a:t>Safety gate + cooldown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A472D5B2-4C5E-422D-B6D6-D7B0C80B8073}"/>
              </a:ext>
            </a:extLst>
          </p:cNvPr>
          <p:cNvSpPr>
            <a:spLocks noGrp="1"/>
          </p:cNvSpPr>
          <p:nvPr/>
        </p:nvSpPr>
        <p:spPr>
          <a:xfrm>
            <a:off x="8705850" y="5772150"/>
            <a:ext cx="2190750" cy="457200"/>
          </a:xfrm>
          <a:prstGeom prst="roundRect">
            <a:avLst>
              <a:gd name="adj" fmla="val 8333"/>
            </a:avLst>
          </a:prstGeom>
          <a:solidFill>
            <a:srgbClr val="D4863B"/>
          </a:solidFill>
          <a:ln w="14288">
            <a:solidFill>
              <a:srgbClr val="D4863B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A1217FC-0865-4C7D-9636-D74EBB77163D}"/>
              </a:ext>
            </a:extLst>
          </p:cNvPr>
          <p:cNvSpPr>
            <a:spLocks noGrp="1"/>
          </p:cNvSpPr>
          <p:nvPr/>
        </p:nvSpPr>
        <p:spPr>
          <a:xfrm>
            <a:off x="8705850" y="58197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Shadow recommendation</a:t>
            </a:r>
          </a:p>
        </p:txBody>
      </p:sp>
      <p:cxnSp>
        <p:nvCxnSpPr>
          <p:cNvPr id="219" name="直接箭头连接符 218"/>
          <p:cNvCxnSpPr>
            <a:cxnSpLocks/>
          </p:cNvCxnSpPr>
          <p:nvPr/>
        </p:nvCxnSpPr>
        <p:spPr>
          <a:xfrm flipH="1">
            <a:off x="2686050" y="6000750"/>
            <a:ext cx="685800" cy="0"/>
          </a:xfrm>
          <a:prstGeom prst="straightConnector1">
            <a:avLst/>
          </a:prstGeom>
          <a:ln w="21908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220" name="直接箭头连接符 219"/>
          <p:cNvCxnSpPr>
            <a:cxnSpLocks/>
          </p:cNvCxnSpPr>
          <p:nvPr/>
        </p:nvCxnSpPr>
        <p:spPr>
          <a:xfrm flipH="1">
            <a:off x="5353050" y="6000750"/>
            <a:ext cx="685800" cy="0"/>
          </a:xfrm>
          <a:prstGeom prst="straightConnector1">
            <a:avLst/>
          </a:prstGeom>
          <a:ln w="21908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221" name="直接箭头连接符 220"/>
          <p:cNvCxnSpPr>
            <a:cxnSpLocks/>
          </p:cNvCxnSpPr>
          <p:nvPr/>
        </p:nvCxnSpPr>
        <p:spPr>
          <a:xfrm flipH="1">
            <a:off x="8020050" y="6000750"/>
            <a:ext cx="685800" cy="0"/>
          </a:xfrm>
          <a:prstGeom prst="straightConnector1">
            <a:avLst/>
          </a:prstGeom>
          <a:ln w="21908">
            <a:solidFill>
              <a:srgbClr val="18324A"/>
            </a:solidFill>
            <a:prstDash val="solid"/>
            <a:headEnd type="arrow" w="med" len="med"/>
          </a:ln>
        </p:spPr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DE0FA89-7FC7-433C-99E6-A6639F107B76}"/>
              </a:ext>
            </a:extLst>
          </p:cNvPr>
          <p:cNvSpPr>
            <a:spLocks noGrp="1"/>
          </p:cNvSpPr>
          <p:nvPr/>
        </p:nvSpPr>
        <p:spPr>
          <a:xfrm>
            <a:off x="8477250" y="6305550"/>
            <a:ext cx="3238500" cy="304800"/>
          </a:xfrm>
          <a:prstGeom prst="roundRect">
            <a:avLst>
              <a:gd name="adj" fmla="val 12500"/>
            </a:avLst>
          </a:prstGeom>
          <a:solidFill>
            <a:srgbClr val="F9EDEC"/>
          </a:solidFill>
          <a:ln w="14288">
            <a:solidFill>
              <a:srgbClr val="C45A4A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F106B8D-9758-4629-BB74-4D490A1D5E00}"/>
              </a:ext>
            </a:extLst>
          </p:cNvPr>
          <p:cNvSpPr>
            <a:spLocks noGrp="1"/>
          </p:cNvSpPr>
          <p:nvPr/>
        </p:nvSpPr>
        <p:spPr>
          <a:xfrm>
            <a:off x="8524875" y="634546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C45A4A"/>
                </a:solidFill>
              </a:defRPr>
            </a:pPr>
            <a:r>
              <a:rPr sz="1100" b="1">
                <a:solidFill>
                  <a:srgbClr val="C45A4A"/>
                </a:solidFill>
              </a:rPr>
              <a:t>If uncertain or unsafe: retain DT-aware action</a:t>
            </a:r>
          </a:p>
        </p:txBody>
      </p:sp>
    </p:spTree>
    <p:extLst>
      <p:ext uri="{BB962C8B-B14F-4D97-AF65-F5344CB8AC3E}">
        <p14:creationId xmlns:p14="http://schemas.microsoft.com/office/powerpoint/2010/main" val="2019673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254</Words>
  <Application>Microsoft Office PowerPoint</Application>
  <DocSecurity>0</DocSecurity>
  <PresentationFormat>宽屏</PresentationFormat>
  <Paragraphs>89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8615117053525</cp:lastModifiedBy>
  <cp:revision>12</cp:revision>
  <dcterms:created xsi:type="dcterms:W3CDTF">2026-08-21T09:02:27Z</dcterms:created>
  <dcterms:modified xsi:type="dcterms:W3CDTF">2026-08-21T09:22:46Z</dcterms:modified>
</cp:coreProperties>
</file>